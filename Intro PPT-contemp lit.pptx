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0" r:id="rId4"/>
    <p:sldId id="272" r:id="rId5"/>
    <p:sldId id="319" r:id="rId6"/>
    <p:sldId id="320" r:id="rId7"/>
    <p:sldId id="321" r:id="rId8"/>
    <p:sldId id="325" r:id="rId9"/>
    <p:sldId id="322" r:id="rId10"/>
    <p:sldId id="286" r:id="rId11"/>
    <p:sldId id="288" r:id="rId12"/>
    <p:sldId id="280" r:id="rId13"/>
    <p:sldId id="287" r:id="rId14"/>
    <p:sldId id="271" r:id="rId15"/>
    <p:sldId id="306" r:id="rId16"/>
    <p:sldId id="323" r:id="rId17"/>
    <p:sldId id="285" r:id="rId18"/>
    <p:sldId id="292" r:id="rId19"/>
    <p:sldId id="293" r:id="rId20"/>
    <p:sldId id="294" r:id="rId21"/>
    <p:sldId id="307" r:id="rId22"/>
    <p:sldId id="295" r:id="rId23"/>
    <p:sldId id="268" r:id="rId24"/>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73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3524461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367927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1870667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874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3965980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1139966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957422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1460559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3538586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433860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D343907-971D-41D6-B023-F472BCE86809}" type="datetimeFigureOut">
              <a:rPr lang="ko-KR" altLang="en-US" smtClean="0"/>
              <a:t>2026-03-03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1494613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343907-971D-41D6-B023-F472BCE86809}" type="datetimeFigureOut">
              <a:rPr lang="ko-KR" altLang="en-US" smtClean="0"/>
              <a:t>2026-03-03</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002D3B-76E2-4902-902B-F356A2DE7C99}" type="slidenum">
              <a:rPr lang="ko-KR" altLang="en-US" smtClean="0"/>
              <a:t>‹#›</a:t>
            </a:fld>
            <a:endParaRPr lang="ko-KR" altLang="en-US"/>
          </a:p>
        </p:txBody>
      </p:sp>
    </p:spTree>
    <p:extLst>
      <p:ext uri="{BB962C8B-B14F-4D97-AF65-F5344CB8AC3E}">
        <p14:creationId xmlns:p14="http://schemas.microsoft.com/office/powerpoint/2010/main" val="1039442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achon.webex.com/meet/lokyungeun" TargetMode="External"/><Relationship Id="rId2" Type="http://schemas.openxmlformats.org/officeDocument/2006/relationships/hyperlink" Target="mailto:lokyungeun@gmail.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ko-KR" altLang="en-US" dirty="0"/>
              <a:t>현대영국소설</a:t>
            </a:r>
          </a:p>
        </p:txBody>
      </p:sp>
      <p:sp>
        <p:nvSpPr>
          <p:cNvPr id="3" name="부제목 2"/>
          <p:cNvSpPr>
            <a:spLocks noGrp="1"/>
          </p:cNvSpPr>
          <p:nvPr>
            <p:ph type="subTitle" idx="1"/>
          </p:nvPr>
        </p:nvSpPr>
        <p:spPr/>
        <p:txBody>
          <a:bodyPr/>
          <a:lstStyle/>
          <a:p>
            <a:r>
              <a:rPr lang="en-US" altLang="ko-KR" dirty="0"/>
              <a:t>Modern/Contemporary British Novel</a:t>
            </a:r>
            <a:endParaRPr lang="ko-KR" altLang="en-US" dirty="0"/>
          </a:p>
        </p:txBody>
      </p:sp>
    </p:spTree>
    <p:extLst>
      <p:ext uri="{BB962C8B-B14F-4D97-AF65-F5344CB8AC3E}">
        <p14:creationId xmlns:p14="http://schemas.microsoft.com/office/powerpoint/2010/main" val="4103256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lgn="ctr"/>
            <a:r>
              <a:rPr lang="en-US" altLang="ko-KR" dirty="0"/>
              <a:t>Contact Info</a:t>
            </a:r>
            <a:endParaRPr lang="ko-KR" altLang="en-US" dirty="0"/>
          </a:p>
        </p:txBody>
      </p:sp>
      <p:sp>
        <p:nvSpPr>
          <p:cNvPr id="3" name="내용 개체 틀 2"/>
          <p:cNvSpPr>
            <a:spLocks noGrp="1"/>
          </p:cNvSpPr>
          <p:nvPr>
            <p:ph idx="1"/>
          </p:nvPr>
        </p:nvSpPr>
        <p:spPr>
          <a:xfrm>
            <a:off x="628650" y="2207641"/>
            <a:ext cx="7886700" cy="3282332"/>
          </a:xfrm>
        </p:spPr>
        <p:txBody>
          <a:bodyPr>
            <a:normAutofit fontScale="85000" lnSpcReduction="20000"/>
          </a:bodyPr>
          <a:lstStyle/>
          <a:p>
            <a:r>
              <a:rPr lang="en-US" altLang="ko-KR" sz="3300" dirty="0"/>
              <a:t>Prof. Kyung </a:t>
            </a:r>
            <a:r>
              <a:rPr lang="en-US" altLang="ko-KR" sz="3300" dirty="0" err="1"/>
              <a:t>Eun</a:t>
            </a:r>
            <a:r>
              <a:rPr lang="en-US" altLang="ko-KR" sz="3300" dirty="0"/>
              <a:t> Lo (</a:t>
            </a:r>
            <a:r>
              <a:rPr lang="ko-KR" altLang="en-US" sz="3300" dirty="0"/>
              <a:t>노경은</a:t>
            </a:r>
            <a:r>
              <a:rPr lang="en-US" altLang="ko-KR" sz="3300" dirty="0"/>
              <a:t>)</a:t>
            </a:r>
          </a:p>
          <a:p>
            <a:r>
              <a:rPr lang="en-US" altLang="ko-KR" sz="3300" dirty="0"/>
              <a:t>Please use my </a:t>
            </a:r>
            <a:r>
              <a:rPr lang="en-US" altLang="ko-KR" sz="3300" dirty="0" err="1"/>
              <a:t>gmail</a:t>
            </a:r>
            <a:r>
              <a:rPr lang="en-US" altLang="ko-KR" sz="3300" dirty="0"/>
              <a:t> </a:t>
            </a:r>
            <a:r>
              <a:rPr lang="en-US" altLang="ko-KR" sz="3300" dirty="0">
                <a:solidFill>
                  <a:srgbClr val="FF0000"/>
                </a:solidFill>
                <a:hlinkClick r:id="rId2"/>
              </a:rPr>
              <a:t>lokyungeun@gmail.com</a:t>
            </a:r>
            <a:r>
              <a:rPr lang="en-US" altLang="ko-KR" sz="3300" dirty="0">
                <a:solidFill>
                  <a:srgbClr val="FF0000"/>
                </a:solidFill>
              </a:rPr>
              <a:t> </a:t>
            </a:r>
          </a:p>
          <a:p>
            <a:pPr marL="0" indent="0">
              <a:buNone/>
            </a:pPr>
            <a:r>
              <a:rPr lang="en-US" altLang="ko-KR" sz="3300" dirty="0"/>
              <a:t>(instead of my phone number or the </a:t>
            </a:r>
            <a:r>
              <a:rPr lang="en-US" altLang="ko-KR" sz="3300" dirty="0" err="1"/>
              <a:t>Gachon</a:t>
            </a:r>
            <a:r>
              <a:rPr lang="en-US" altLang="ko-KR" sz="3300" dirty="0"/>
              <a:t>  </a:t>
            </a:r>
            <a:r>
              <a:rPr lang="en-US" altLang="ko-KR" sz="3300" dirty="0" err="1"/>
              <a:t>gmail</a:t>
            </a:r>
            <a:r>
              <a:rPr lang="en-US" altLang="ko-KR" sz="3300" dirty="0"/>
              <a:t>) </a:t>
            </a:r>
          </a:p>
          <a:p>
            <a:r>
              <a:rPr lang="en-US" altLang="ko-KR" sz="3300" dirty="0"/>
              <a:t>Check regularly on </a:t>
            </a:r>
            <a:r>
              <a:rPr lang="en-US" altLang="ko-KR" sz="3300" dirty="0" err="1"/>
              <a:t>cybercampus</a:t>
            </a:r>
            <a:r>
              <a:rPr lang="en-US" altLang="ko-KR" sz="3300" dirty="0"/>
              <a:t> for announcements </a:t>
            </a:r>
          </a:p>
          <a:p>
            <a:r>
              <a:rPr lang="en-US" altLang="ko-KR" sz="3300" dirty="0"/>
              <a:t>Online classes (if necessary) : </a:t>
            </a:r>
            <a:r>
              <a:rPr lang="en-US" altLang="ko-KR" sz="3300" dirty="0">
                <a:hlinkClick r:id="rId3"/>
              </a:rPr>
              <a:t>https://gachon.webex.com/meet/lokyungeun</a:t>
            </a:r>
            <a:endParaRPr lang="en-US" altLang="ko-KR" sz="3300" dirty="0"/>
          </a:p>
          <a:p>
            <a:pPr marL="0" indent="0">
              <a:buNone/>
            </a:pPr>
            <a:endParaRPr lang="ko-KR" altLang="en-US" sz="3300" dirty="0">
              <a:solidFill>
                <a:srgbClr val="FF0000"/>
              </a:solidFill>
            </a:endParaRPr>
          </a:p>
        </p:txBody>
      </p:sp>
    </p:spTree>
    <p:extLst>
      <p:ext uri="{BB962C8B-B14F-4D97-AF65-F5344CB8AC3E}">
        <p14:creationId xmlns:p14="http://schemas.microsoft.com/office/powerpoint/2010/main" val="1315772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lgn="ctr"/>
            <a:r>
              <a:rPr lang="en-US" altLang="ko-KR" dirty="0"/>
              <a:t>Class Schedule</a:t>
            </a:r>
            <a:endParaRPr lang="ko-KR" altLang="en-US" dirty="0"/>
          </a:p>
        </p:txBody>
      </p:sp>
      <p:sp>
        <p:nvSpPr>
          <p:cNvPr id="3" name="내용 개체 틀 2"/>
          <p:cNvSpPr>
            <a:spLocks noGrp="1"/>
          </p:cNvSpPr>
          <p:nvPr>
            <p:ph idx="1"/>
          </p:nvPr>
        </p:nvSpPr>
        <p:spPr/>
        <p:txBody>
          <a:bodyPr>
            <a:normAutofit/>
          </a:bodyPr>
          <a:lstStyle/>
          <a:p>
            <a:endParaRPr lang="en-US" altLang="ko-KR" dirty="0"/>
          </a:p>
          <a:p>
            <a:r>
              <a:rPr lang="en-US" altLang="ko-KR" dirty="0"/>
              <a:t>Tuesdays in </a:t>
            </a:r>
            <a:r>
              <a:rPr lang="en-US" altLang="ko-KR" dirty="0" err="1"/>
              <a:t>Gachon</a:t>
            </a:r>
            <a:r>
              <a:rPr lang="en-US" altLang="ko-KR" dirty="0"/>
              <a:t> </a:t>
            </a:r>
            <a:r>
              <a:rPr lang="en-US" altLang="ko-KR" dirty="0" err="1"/>
              <a:t>Bldg</a:t>
            </a:r>
            <a:r>
              <a:rPr lang="en-US" altLang="ko-KR" dirty="0"/>
              <a:t> No. 415 </a:t>
            </a:r>
            <a:endParaRPr lang="ko-KR" altLang="en-US" dirty="0">
              <a:solidFill>
                <a:srgbClr val="FF0000"/>
              </a:solidFill>
            </a:endParaRPr>
          </a:p>
          <a:p>
            <a:endParaRPr lang="en-US" altLang="ko-KR" dirty="0"/>
          </a:p>
          <a:p>
            <a:r>
              <a:rPr lang="en-US" altLang="ko-KR" dirty="0"/>
              <a:t>2-4:50 with breaks</a:t>
            </a:r>
          </a:p>
          <a:p>
            <a:endParaRPr lang="en-US" altLang="ko-KR" dirty="0"/>
          </a:p>
          <a:p>
            <a:pPr marL="0" indent="0">
              <a:buNone/>
            </a:pPr>
            <a:endParaRPr lang="en-US" altLang="ko-KR" dirty="0"/>
          </a:p>
        </p:txBody>
      </p:sp>
    </p:spTree>
    <p:extLst>
      <p:ext uri="{BB962C8B-B14F-4D97-AF65-F5344CB8AC3E}">
        <p14:creationId xmlns:p14="http://schemas.microsoft.com/office/powerpoint/2010/main" val="280337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dirty="0"/>
              <a:t>Course Descriptions</a:t>
            </a:r>
            <a:endParaRPr lang="ko-KR" altLang="en-US" dirty="0"/>
          </a:p>
        </p:txBody>
      </p:sp>
      <p:sp>
        <p:nvSpPr>
          <p:cNvPr id="3" name="내용 개체 틀 2"/>
          <p:cNvSpPr>
            <a:spLocks noGrp="1"/>
          </p:cNvSpPr>
          <p:nvPr>
            <p:ph idx="1"/>
          </p:nvPr>
        </p:nvSpPr>
        <p:spPr>
          <a:xfrm>
            <a:off x="323528" y="1844824"/>
            <a:ext cx="8363272" cy="5688632"/>
          </a:xfrm>
        </p:spPr>
        <p:txBody>
          <a:bodyPr>
            <a:noAutofit/>
          </a:bodyPr>
          <a:lstStyle/>
          <a:p>
            <a:r>
              <a:rPr lang="en-US" altLang="ko-KR" dirty="0"/>
              <a:t> This course examines major developments in modern British literature through two influential novels: </a:t>
            </a:r>
            <a:r>
              <a:rPr lang="en-US" altLang="ko-KR" b="1" dirty="0">
                <a:solidFill>
                  <a:schemeClr val="accent6"/>
                </a:solidFill>
              </a:rPr>
              <a:t>Virginia Woolf’s </a:t>
            </a:r>
            <a:r>
              <a:rPr lang="en-US" altLang="ko-KR" b="1" i="1" dirty="0">
                <a:solidFill>
                  <a:schemeClr val="accent6"/>
                </a:solidFill>
              </a:rPr>
              <a:t>To the Lighthouse </a:t>
            </a:r>
            <a:r>
              <a:rPr lang="en-US" altLang="ko-KR" b="1" dirty="0">
                <a:solidFill>
                  <a:schemeClr val="accent6"/>
                </a:solidFill>
              </a:rPr>
              <a:t>(1927) </a:t>
            </a:r>
            <a:r>
              <a:rPr lang="en-US" altLang="ko-KR" dirty="0"/>
              <a:t>and </a:t>
            </a:r>
            <a:r>
              <a:rPr lang="en-US" altLang="ko-KR" b="1" dirty="0">
                <a:solidFill>
                  <a:schemeClr val="accent6"/>
                </a:solidFill>
              </a:rPr>
              <a:t>Jean Rhys’s Wide Sargasso Sea (1966). </a:t>
            </a:r>
          </a:p>
          <a:p>
            <a:r>
              <a:rPr lang="en-US" altLang="ko-KR" dirty="0"/>
              <a:t>We will focus on modern/contemporary British novels, written during the modernist period (early  20</a:t>
            </a:r>
            <a:r>
              <a:rPr lang="en-US" altLang="ko-KR" baseline="30000" dirty="0"/>
              <a:t>th</a:t>
            </a:r>
            <a:r>
              <a:rPr lang="en-US" altLang="ko-KR" dirty="0"/>
              <a:t> century-1940) and contemporary period (mid 20</a:t>
            </a:r>
            <a:r>
              <a:rPr lang="en-US" altLang="ko-KR" baseline="30000" dirty="0"/>
              <a:t>th</a:t>
            </a:r>
            <a:r>
              <a:rPr lang="en-US" altLang="ko-KR" dirty="0"/>
              <a:t> century to present) </a:t>
            </a:r>
          </a:p>
          <a:p>
            <a:endParaRPr lang="en-US" altLang="ko-KR" sz="2800" dirty="0"/>
          </a:p>
        </p:txBody>
      </p:sp>
    </p:spTree>
    <p:extLst>
      <p:ext uri="{BB962C8B-B14F-4D97-AF65-F5344CB8AC3E}">
        <p14:creationId xmlns:p14="http://schemas.microsoft.com/office/powerpoint/2010/main" val="86041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title"/>
          </p:nvPr>
        </p:nvSpPr>
        <p:spPr/>
        <p:txBody>
          <a:bodyPr/>
          <a:lstStyle/>
          <a:p>
            <a:r>
              <a:rPr lang="en-US" altLang="ko-KR" dirty="0"/>
              <a:t>To the Lighthouse</a:t>
            </a:r>
            <a:endParaRPr lang="ko-KR" altLang="en-US" dirty="0"/>
          </a:p>
        </p:txBody>
      </p:sp>
      <p:sp>
        <p:nvSpPr>
          <p:cNvPr id="12" name="텍스트 개체 틀 11"/>
          <p:cNvSpPr>
            <a:spLocks noGrp="1"/>
          </p:cNvSpPr>
          <p:nvPr>
            <p:ph type="body" idx="1"/>
          </p:nvPr>
        </p:nvSpPr>
        <p:spPr>
          <a:xfrm>
            <a:off x="457200" y="1417638"/>
            <a:ext cx="4258816" cy="757237"/>
          </a:xfrm>
        </p:spPr>
        <p:txBody>
          <a:bodyPr/>
          <a:lstStyle/>
          <a:p>
            <a:r>
              <a:rPr lang="en-US" altLang="ko-KR" dirty="0"/>
              <a:t>Virginia Woolf (1882-1941)</a:t>
            </a:r>
            <a:endParaRPr lang="ko-KR" altLang="en-US" dirty="0"/>
          </a:p>
        </p:txBody>
      </p:sp>
      <p:sp>
        <p:nvSpPr>
          <p:cNvPr id="13" name="내용 개체 틀 12"/>
          <p:cNvSpPr>
            <a:spLocks noGrp="1"/>
          </p:cNvSpPr>
          <p:nvPr>
            <p:ph sz="half" idx="2"/>
          </p:nvPr>
        </p:nvSpPr>
        <p:spPr/>
        <p:txBody>
          <a:bodyPr/>
          <a:lstStyle/>
          <a:p>
            <a:endParaRPr lang="ko-KR" altLang="en-US"/>
          </a:p>
        </p:txBody>
      </p:sp>
      <p:sp>
        <p:nvSpPr>
          <p:cNvPr id="14" name="텍스트 개체 틀 13"/>
          <p:cNvSpPr>
            <a:spLocks noGrp="1"/>
          </p:cNvSpPr>
          <p:nvPr>
            <p:ph type="body" sz="quarter" idx="3"/>
          </p:nvPr>
        </p:nvSpPr>
        <p:spPr/>
        <p:txBody>
          <a:bodyPr/>
          <a:lstStyle/>
          <a:p>
            <a:r>
              <a:rPr lang="en-US" altLang="ko-KR" dirty="0"/>
              <a:t>       1927</a:t>
            </a:r>
            <a:endParaRPr lang="ko-KR" altLang="en-US" dirty="0"/>
          </a:p>
        </p:txBody>
      </p:sp>
      <p:sp>
        <p:nvSpPr>
          <p:cNvPr id="15" name="내용 개체 틀 14"/>
          <p:cNvSpPr>
            <a:spLocks noGrp="1"/>
          </p:cNvSpPr>
          <p:nvPr>
            <p:ph sz="quarter" idx="4"/>
          </p:nvPr>
        </p:nvSpPr>
        <p:spPr/>
        <p:txBody>
          <a:bodyPr/>
          <a:lstStyle/>
          <a:p>
            <a:endParaRPr lang="ko-KR" altLang="en-US"/>
          </a:p>
        </p:txBody>
      </p:sp>
      <p:sp>
        <p:nvSpPr>
          <p:cNvPr id="7" name="AutoShape 2" descr="To the Lighthouse (Wordsworth Classics)(Cover may Vary): Amazon.co.uk: Woolf,  Virginia, Bradbury, Dr Nicola, Carabine, Dr Keith: 8601404209390: Boo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pic>
        <p:nvPicPr>
          <p:cNvPr id="8" name="그림 7"/>
          <p:cNvPicPr>
            <a:picLocks noChangeAspect="1"/>
          </p:cNvPicPr>
          <p:nvPr/>
        </p:nvPicPr>
        <p:blipFill>
          <a:blip r:embed="rId2"/>
          <a:stretch>
            <a:fillRect/>
          </a:stretch>
        </p:blipFill>
        <p:spPr>
          <a:xfrm>
            <a:off x="5333764" y="2511565"/>
            <a:ext cx="2664296" cy="4106843"/>
          </a:xfrm>
          <a:prstGeom prst="rect">
            <a:avLst/>
          </a:prstGeom>
        </p:spPr>
      </p:pic>
      <p:sp>
        <p:nvSpPr>
          <p:cNvPr id="9" name="AutoShape 4" descr="To the Lighthouse (Wordsworth Classics)(Cover may Vary): Amazon.co.uk: Woolf,  Virginia, Bradbury, Dr Nicola, Carabine, Dr Keith: 8601404209390: Boo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pic>
        <p:nvPicPr>
          <p:cNvPr id="11" name="그림 10"/>
          <p:cNvPicPr>
            <a:picLocks noChangeAspect="1"/>
          </p:cNvPicPr>
          <p:nvPr/>
        </p:nvPicPr>
        <p:blipFill>
          <a:blip r:embed="rId3"/>
          <a:stretch>
            <a:fillRect/>
          </a:stretch>
        </p:blipFill>
        <p:spPr>
          <a:xfrm>
            <a:off x="1043608" y="2511565"/>
            <a:ext cx="3310129" cy="3774383"/>
          </a:xfrm>
          <a:prstGeom prst="rect">
            <a:avLst/>
          </a:prstGeom>
        </p:spPr>
      </p:pic>
    </p:spTree>
    <p:extLst>
      <p:ext uri="{BB962C8B-B14F-4D97-AF65-F5344CB8AC3E}">
        <p14:creationId xmlns:p14="http://schemas.microsoft.com/office/powerpoint/2010/main" val="1280477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t>Wide Sargasso Sea</a:t>
            </a:r>
            <a:endParaRPr lang="ko-KR" altLang="en-US" dirty="0"/>
          </a:p>
        </p:txBody>
      </p:sp>
      <p:sp>
        <p:nvSpPr>
          <p:cNvPr id="4" name="텍스트 개체 틀 3"/>
          <p:cNvSpPr>
            <a:spLocks noGrp="1"/>
          </p:cNvSpPr>
          <p:nvPr>
            <p:ph type="body" idx="1"/>
          </p:nvPr>
        </p:nvSpPr>
        <p:spPr/>
        <p:txBody>
          <a:bodyPr/>
          <a:lstStyle/>
          <a:p>
            <a:r>
              <a:rPr lang="en-US" altLang="ko-KR" dirty="0"/>
              <a:t>Jean Rhys (1890-1979)</a:t>
            </a:r>
            <a:endParaRPr lang="ko-KR" altLang="en-US" dirty="0"/>
          </a:p>
        </p:txBody>
      </p:sp>
      <p:sp>
        <p:nvSpPr>
          <p:cNvPr id="3" name="Content Placeholder 2"/>
          <p:cNvSpPr>
            <a:spLocks noGrp="1"/>
          </p:cNvSpPr>
          <p:nvPr>
            <p:ph sz="half" idx="2"/>
          </p:nvPr>
        </p:nvSpPr>
        <p:spPr/>
        <p:txBody>
          <a:bodyPr>
            <a:normAutofit/>
          </a:bodyPr>
          <a:lstStyle/>
          <a:p>
            <a:pPr marL="0" indent="0">
              <a:buNone/>
            </a:pPr>
            <a:endParaRPr lang="ko-KR" altLang="en-US" i="1" dirty="0"/>
          </a:p>
        </p:txBody>
      </p:sp>
      <p:sp>
        <p:nvSpPr>
          <p:cNvPr id="6" name="텍스트 개체 틀 5"/>
          <p:cNvSpPr>
            <a:spLocks noGrp="1"/>
          </p:cNvSpPr>
          <p:nvPr>
            <p:ph type="body" sz="quarter" idx="3"/>
          </p:nvPr>
        </p:nvSpPr>
        <p:spPr/>
        <p:txBody>
          <a:bodyPr/>
          <a:lstStyle/>
          <a:p>
            <a:r>
              <a:rPr lang="en-US" altLang="ko-KR" dirty="0"/>
              <a:t>1966</a:t>
            </a:r>
            <a:endParaRPr lang="ko-KR"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403" y="2813249"/>
            <a:ext cx="4419781" cy="3312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0" descr="https://encrypted-tbn1.gstatic.com/images?q=tbn:ANd9GcQzm3_UC_uCtYI_C2vpsNeqewq9etPDuIC8dRnU88HfbarUygzP"/>
          <p:cNvPicPr>
            <a:picLocks noChangeAspect="1" noChangeArrowheads="1"/>
          </p:cNvPicPr>
          <p:nvPr/>
        </p:nvPicPr>
        <p:blipFill>
          <a:blip r:embed="rId3" cstate="print"/>
          <a:srcRect/>
          <a:stretch>
            <a:fillRect/>
          </a:stretch>
        </p:blipFill>
        <p:spPr bwMode="auto">
          <a:xfrm>
            <a:off x="5260314" y="2057400"/>
            <a:ext cx="2485718" cy="3701559"/>
          </a:xfrm>
          <a:prstGeom prst="rect">
            <a:avLst/>
          </a:prstGeom>
          <a:noFill/>
        </p:spPr>
      </p:pic>
      <p:sp>
        <p:nvSpPr>
          <p:cNvPr id="7" name="내용 개체 틀 6"/>
          <p:cNvSpPr>
            <a:spLocks noGrp="1"/>
          </p:cNvSpPr>
          <p:nvPr>
            <p:ph sz="quarter" idx="4"/>
          </p:nvPr>
        </p:nvSpPr>
        <p:spPr/>
        <p:txBody>
          <a:bodyPr/>
          <a:lstStyle/>
          <a:p>
            <a:endParaRPr lang="ko-KR" altLang="en-US" dirty="0"/>
          </a:p>
        </p:txBody>
      </p:sp>
    </p:spTree>
    <p:extLst>
      <p:ext uri="{BB962C8B-B14F-4D97-AF65-F5344CB8AC3E}">
        <p14:creationId xmlns:p14="http://schemas.microsoft.com/office/powerpoint/2010/main" val="1930016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ko-KR" sz="3200" dirty="0"/>
              <a:t>Introduction to the novel as a genre &amp; understand what it means to be a ‘modern’ or ‘contemporary’ novel</a:t>
            </a:r>
            <a:br>
              <a:rPr lang="en-US" altLang="ko-KR" sz="3200" dirty="0"/>
            </a:br>
            <a:endParaRPr lang="ko-KR" altLang="en-US" sz="3200" dirty="0"/>
          </a:p>
        </p:txBody>
      </p:sp>
      <p:sp>
        <p:nvSpPr>
          <p:cNvPr id="3" name="Content Placeholder 2"/>
          <p:cNvSpPr>
            <a:spLocks noGrp="1"/>
          </p:cNvSpPr>
          <p:nvPr>
            <p:ph idx="1"/>
          </p:nvPr>
        </p:nvSpPr>
        <p:spPr/>
        <p:txBody>
          <a:bodyPr>
            <a:normAutofit fontScale="77500" lnSpcReduction="20000"/>
          </a:bodyPr>
          <a:lstStyle/>
          <a:p>
            <a:pPr marL="0" indent="0">
              <a:buNone/>
            </a:pPr>
            <a:r>
              <a:rPr lang="en-US" altLang="ko-KR" dirty="0"/>
              <a:t>Key traits of modern novels (20</a:t>
            </a:r>
            <a:r>
              <a:rPr lang="en-US" altLang="ko-KR" baseline="30000" dirty="0"/>
              <a:t>th</a:t>
            </a:r>
            <a:r>
              <a:rPr lang="en-US" altLang="ko-KR" dirty="0"/>
              <a:t> century) </a:t>
            </a:r>
          </a:p>
          <a:p>
            <a:r>
              <a:rPr lang="en-US" altLang="ko-KR" dirty="0"/>
              <a:t>Break away from traditional Victorian realism (</a:t>
            </a:r>
          </a:p>
          <a:p>
            <a:r>
              <a:rPr lang="en-US" altLang="ko-KR" dirty="0"/>
              <a:t>Disillusionment - responses to industrialization, World War I &amp; II, and rapid social change</a:t>
            </a:r>
          </a:p>
          <a:p>
            <a:r>
              <a:rPr lang="en-US" altLang="ko-KR" dirty="0"/>
              <a:t>Experimentation with narrative form </a:t>
            </a:r>
          </a:p>
          <a:p>
            <a:r>
              <a:rPr lang="en-US" altLang="ko-KR" dirty="0"/>
              <a:t>Stream of consciousness-nonlinear</a:t>
            </a:r>
          </a:p>
          <a:p>
            <a:r>
              <a:rPr lang="en-US" altLang="ko-KR" dirty="0"/>
              <a:t>Fragmentation – fractured reality</a:t>
            </a:r>
          </a:p>
          <a:p>
            <a:r>
              <a:rPr lang="en-US" altLang="ko-KR" dirty="0"/>
              <a:t>Subjectivity - focus on psychology and interiority</a:t>
            </a:r>
          </a:p>
          <a:p>
            <a:endParaRPr lang="en-US" altLang="ko-KR" dirty="0"/>
          </a:p>
          <a:p>
            <a:pPr marL="0" indent="0">
              <a:buNone/>
            </a:pPr>
            <a:r>
              <a:rPr lang="en-US" altLang="ko-KR" dirty="0"/>
              <a:t>Key traits of contemporary novels</a:t>
            </a:r>
          </a:p>
          <a:p>
            <a:r>
              <a:rPr lang="en-US" altLang="ko-KR" dirty="0"/>
              <a:t>Postmodern, postcolonial, revisionist, multicultural themes </a:t>
            </a:r>
          </a:p>
        </p:txBody>
      </p:sp>
    </p:spTree>
    <p:extLst>
      <p:ext uri="{BB962C8B-B14F-4D97-AF65-F5344CB8AC3E}">
        <p14:creationId xmlns:p14="http://schemas.microsoft.com/office/powerpoint/2010/main" val="2134078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EDDF249-5271-4E2A-9748-C6AF96EA16FC}"/>
              </a:ext>
            </a:extLst>
          </p:cNvPr>
          <p:cNvSpPr>
            <a:spLocks noGrp="1"/>
          </p:cNvSpPr>
          <p:nvPr>
            <p:ph type="title"/>
          </p:nvPr>
        </p:nvSpPr>
        <p:spPr/>
        <p:txBody>
          <a:bodyPr/>
          <a:lstStyle/>
          <a:p>
            <a:endParaRPr lang="ko-KR" altLang="en-US" dirty="0"/>
          </a:p>
        </p:txBody>
      </p:sp>
      <p:sp>
        <p:nvSpPr>
          <p:cNvPr id="3" name="내용 개체 틀 2">
            <a:extLst>
              <a:ext uri="{FF2B5EF4-FFF2-40B4-BE49-F238E27FC236}">
                <a16:creationId xmlns:a16="http://schemas.microsoft.com/office/drawing/2014/main" id="{528C29C5-13A4-47C5-B955-BABFC50D6F80}"/>
              </a:ext>
            </a:extLst>
          </p:cNvPr>
          <p:cNvSpPr>
            <a:spLocks noGrp="1"/>
          </p:cNvSpPr>
          <p:nvPr>
            <p:ph idx="1"/>
          </p:nvPr>
        </p:nvSpPr>
        <p:spPr/>
        <p:txBody>
          <a:bodyPr/>
          <a:lstStyle/>
          <a:p>
            <a:endParaRPr lang="ko-KR" altLang="en-US"/>
          </a:p>
        </p:txBody>
      </p:sp>
      <p:pic>
        <p:nvPicPr>
          <p:cNvPr id="4" name="그림 3">
            <a:extLst>
              <a:ext uri="{FF2B5EF4-FFF2-40B4-BE49-F238E27FC236}">
                <a16:creationId xmlns:a16="http://schemas.microsoft.com/office/drawing/2014/main" id="{A44C7703-53CD-4A37-BFB1-29AFF688B3D1}"/>
              </a:ext>
            </a:extLst>
          </p:cNvPr>
          <p:cNvPicPr>
            <a:picLocks noChangeAspect="1"/>
          </p:cNvPicPr>
          <p:nvPr/>
        </p:nvPicPr>
        <p:blipFill>
          <a:blip r:embed="rId2"/>
          <a:stretch>
            <a:fillRect/>
          </a:stretch>
        </p:blipFill>
        <p:spPr>
          <a:xfrm>
            <a:off x="899592" y="1444268"/>
            <a:ext cx="2897882" cy="1946023"/>
          </a:xfrm>
          <a:prstGeom prst="rect">
            <a:avLst/>
          </a:prstGeom>
        </p:spPr>
      </p:pic>
      <p:pic>
        <p:nvPicPr>
          <p:cNvPr id="5" name="그림 4">
            <a:extLst>
              <a:ext uri="{FF2B5EF4-FFF2-40B4-BE49-F238E27FC236}">
                <a16:creationId xmlns:a16="http://schemas.microsoft.com/office/drawing/2014/main" id="{13703D69-13B8-426E-B013-00F69D1EB3E9}"/>
              </a:ext>
            </a:extLst>
          </p:cNvPr>
          <p:cNvPicPr>
            <a:picLocks noChangeAspect="1"/>
          </p:cNvPicPr>
          <p:nvPr/>
        </p:nvPicPr>
        <p:blipFill>
          <a:blip r:embed="rId3"/>
          <a:stretch>
            <a:fillRect/>
          </a:stretch>
        </p:blipFill>
        <p:spPr>
          <a:xfrm>
            <a:off x="1331640" y="3573016"/>
            <a:ext cx="1752600" cy="2609850"/>
          </a:xfrm>
          <a:prstGeom prst="rect">
            <a:avLst/>
          </a:prstGeom>
        </p:spPr>
      </p:pic>
      <p:pic>
        <p:nvPicPr>
          <p:cNvPr id="6" name="그림 5">
            <a:extLst>
              <a:ext uri="{FF2B5EF4-FFF2-40B4-BE49-F238E27FC236}">
                <a16:creationId xmlns:a16="http://schemas.microsoft.com/office/drawing/2014/main" id="{337DD30A-E378-4A9B-B3D3-2B088368C48A}"/>
              </a:ext>
            </a:extLst>
          </p:cNvPr>
          <p:cNvPicPr>
            <a:picLocks noChangeAspect="1"/>
          </p:cNvPicPr>
          <p:nvPr/>
        </p:nvPicPr>
        <p:blipFill>
          <a:blip r:embed="rId4"/>
          <a:stretch>
            <a:fillRect/>
          </a:stretch>
        </p:blipFill>
        <p:spPr>
          <a:xfrm>
            <a:off x="4644008" y="3903475"/>
            <a:ext cx="1838325" cy="2486025"/>
          </a:xfrm>
          <a:prstGeom prst="rect">
            <a:avLst/>
          </a:prstGeom>
        </p:spPr>
      </p:pic>
      <p:pic>
        <p:nvPicPr>
          <p:cNvPr id="7" name="그림 6">
            <a:extLst>
              <a:ext uri="{FF2B5EF4-FFF2-40B4-BE49-F238E27FC236}">
                <a16:creationId xmlns:a16="http://schemas.microsoft.com/office/drawing/2014/main" id="{F5C7E2CC-BC70-4860-B7CC-CDFD79B9CA63}"/>
              </a:ext>
            </a:extLst>
          </p:cNvPr>
          <p:cNvPicPr>
            <a:picLocks noChangeAspect="1"/>
          </p:cNvPicPr>
          <p:nvPr/>
        </p:nvPicPr>
        <p:blipFill>
          <a:blip r:embed="rId5"/>
          <a:stretch>
            <a:fillRect/>
          </a:stretch>
        </p:blipFill>
        <p:spPr>
          <a:xfrm>
            <a:off x="4988199" y="1496559"/>
            <a:ext cx="2143125" cy="2143125"/>
          </a:xfrm>
          <a:prstGeom prst="rect">
            <a:avLst/>
          </a:prstGeom>
        </p:spPr>
      </p:pic>
      <p:pic>
        <p:nvPicPr>
          <p:cNvPr id="8" name="그림 7">
            <a:extLst>
              <a:ext uri="{FF2B5EF4-FFF2-40B4-BE49-F238E27FC236}">
                <a16:creationId xmlns:a16="http://schemas.microsoft.com/office/drawing/2014/main" id="{B42C921A-FF54-4589-B934-1BC466717433}"/>
              </a:ext>
            </a:extLst>
          </p:cNvPr>
          <p:cNvPicPr>
            <a:picLocks noChangeAspect="1"/>
          </p:cNvPicPr>
          <p:nvPr/>
        </p:nvPicPr>
        <p:blipFill>
          <a:blip r:embed="rId6"/>
          <a:stretch>
            <a:fillRect/>
          </a:stretch>
        </p:blipFill>
        <p:spPr>
          <a:xfrm>
            <a:off x="6876256" y="3859380"/>
            <a:ext cx="2081601" cy="2530574"/>
          </a:xfrm>
          <a:prstGeom prst="rect">
            <a:avLst/>
          </a:prstGeom>
        </p:spPr>
      </p:pic>
    </p:spTree>
    <p:extLst>
      <p:ext uri="{BB962C8B-B14F-4D97-AF65-F5344CB8AC3E}">
        <p14:creationId xmlns:p14="http://schemas.microsoft.com/office/powerpoint/2010/main" val="2333240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Objectives</a:t>
            </a:r>
            <a:endParaRPr lang="ko-KR" altLang="en-US" dirty="0"/>
          </a:p>
        </p:txBody>
      </p:sp>
      <p:sp>
        <p:nvSpPr>
          <p:cNvPr id="3" name="내용 개체 틀 2"/>
          <p:cNvSpPr>
            <a:spLocks noGrp="1"/>
          </p:cNvSpPr>
          <p:nvPr>
            <p:ph idx="1"/>
          </p:nvPr>
        </p:nvSpPr>
        <p:spPr/>
        <p:txBody>
          <a:bodyPr>
            <a:normAutofit lnSpcReduction="10000"/>
          </a:bodyPr>
          <a:lstStyle/>
          <a:p>
            <a:r>
              <a:rPr lang="en-US" altLang="ko-KR" dirty="0"/>
              <a:t>Identify and analyze each author’s thematic concerns and formal innovations</a:t>
            </a:r>
          </a:p>
          <a:p>
            <a:r>
              <a:rPr lang="en-US" altLang="ko-KR" dirty="0"/>
              <a:t>Attend to philosophical, political, cultural, and intellectual backgrounds &amp; issues of aesthetics, perceptions of reality, gender, class, race, colonialism, empire  </a:t>
            </a:r>
            <a:r>
              <a:rPr lang="en-US" altLang="ko-KR" dirty="0" err="1"/>
              <a:t>etc</a:t>
            </a:r>
            <a:endParaRPr lang="en-US" altLang="ko-KR" dirty="0"/>
          </a:p>
          <a:p>
            <a:r>
              <a:rPr lang="en-US" altLang="ko-KR" dirty="0"/>
              <a:t>Sharpen skills of close reading and critical analysis of literary texts</a:t>
            </a:r>
          </a:p>
          <a:p>
            <a:endParaRPr lang="ko-KR" altLang="en-US" dirty="0"/>
          </a:p>
        </p:txBody>
      </p:sp>
    </p:spTree>
    <p:extLst>
      <p:ext uri="{BB962C8B-B14F-4D97-AF65-F5344CB8AC3E}">
        <p14:creationId xmlns:p14="http://schemas.microsoft.com/office/powerpoint/2010/main" val="1230776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Class methodology</a:t>
            </a:r>
            <a:endParaRPr lang="ko-KR" altLang="en-US" dirty="0"/>
          </a:p>
        </p:txBody>
      </p:sp>
      <p:sp>
        <p:nvSpPr>
          <p:cNvPr id="3" name="내용 개체 틀 2"/>
          <p:cNvSpPr>
            <a:spLocks noGrp="1"/>
          </p:cNvSpPr>
          <p:nvPr>
            <p:ph idx="1"/>
          </p:nvPr>
        </p:nvSpPr>
        <p:spPr/>
        <p:txBody>
          <a:bodyPr/>
          <a:lstStyle/>
          <a:p>
            <a:r>
              <a:rPr lang="en-US" altLang="ko-KR" dirty="0"/>
              <a:t>Lecture, class / small-group discussions, individual/group presentations, assignments, media viewing etc.</a:t>
            </a:r>
          </a:p>
          <a:p>
            <a:r>
              <a:rPr lang="en-US" altLang="ko-KR" dirty="0"/>
              <a:t>This course is conducted in English so the lectures, assignments, and exams will be in English.</a:t>
            </a:r>
          </a:p>
          <a:p>
            <a:r>
              <a:rPr lang="en-US" altLang="ko-KR" dirty="0"/>
              <a:t>Speaking English in class is encouraged for your own benefit.</a:t>
            </a:r>
          </a:p>
          <a:p>
            <a:endParaRPr lang="en-US" altLang="ko-KR" dirty="0"/>
          </a:p>
          <a:p>
            <a:endParaRPr lang="ko-KR" altLang="en-US" dirty="0"/>
          </a:p>
        </p:txBody>
      </p:sp>
    </p:spTree>
    <p:extLst>
      <p:ext uri="{BB962C8B-B14F-4D97-AF65-F5344CB8AC3E}">
        <p14:creationId xmlns:p14="http://schemas.microsoft.com/office/powerpoint/2010/main" val="3803508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Important </a:t>
            </a:r>
            <a:endParaRPr lang="ko-KR" altLang="en-US" dirty="0"/>
          </a:p>
        </p:txBody>
      </p:sp>
      <p:sp>
        <p:nvSpPr>
          <p:cNvPr id="3" name="내용 개체 틀 2"/>
          <p:cNvSpPr>
            <a:spLocks noGrp="1"/>
          </p:cNvSpPr>
          <p:nvPr>
            <p:ph idx="1"/>
          </p:nvPr>
        </p:nvSpPr>
        <p:spPr/>
        <p:txBody>
          <a:bodyPr>
            <a:normAutofit fontScale="92500" lnSpcReduction="10000"/>
          </a:bodyPr>
          <a:lstStyle/>
          <a:p>
            <a:r>
              <a:rPr lang="en-US" altLang="ko-KR" dirty="0"/>
              <a:t>Students must read the required reading (original English online text) </a:t>
            </a:r>
            <a:r>
              <a:rPr lang="en-US" altLang="ko-KR" b="1" dirty="0">
                <a:solidFill>
                  <a:srgbClr val="FF0000"/>
                </a:solidFill>
              </a:rPr>
              <a:t>before</a:t>
            </a:r>
            <a:r>
              <a:rPr lang="en-US" altLang="ko-KR" dirty="0"/>
              <a:t> coming to each class. </a:t>
            </a:r>
          </a:p>
          <a:p>
            <a:r>
              <a:rPr lang="en-US" altLang="ko-KR" dirty="0"/>
              <a:t>Reading schedule is on the </a:t>
            </a:r>
            <a:r>
              <a:rPr lang="en-US" altLang="ko-KR" dirty="0" err="1"/>
              <a:t>Cybercampus</a:t>
            </a:r>
            <a:r>
              <a:rPr lang="en-US" altLang="ko-KR" dirty="0"/>
              <a:t>.</a:t>
            </a:r>
          </a:p>
          <a:p>
            <a:r>
              <a:rPr lang="en-US" altLang="ko-KR" dirty="0"/>
              <a:t>Since our class is on Tuesdays only, the required reading can amount to 25 pages for each week.</a:t>
            </a:r>
          </a:p>
          <a:p>
            <a:r>
              <a:rPr lang="en-US" altLang="ko-KR" dirty="0"/>
              <a:t>This class is only for students who love reading, are prepared, and ready to exchange their opinions freely in class.</a:t>
            </a:r>
            <a:endParaRPr lang="ko-KR" altLang="en-US" dirty="0"/>
          </a:p>
        </p:txBody>
      </p:sp>
    </p:spTree>
    <p:extLst>
      <p:ext uri="{BB962C8B-B14F-4D97-AF65-F5344CB8AC3E}">
        <p14:creationId xmlns:p14="http://schemas.microsoft.com/office/powerpoint/2010/main" val="636627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dirty="0"/>
              <a:t>Textbooks</a:t>
            </a:r>
            <a:endParaRPr lang="ko-KR" altLang="en-US" dirty="0"/>
          </a:p>
        </p:txBody>
      </p:sp>
      <p:sp>
        <p:nvSpPr>
          <p:cNvPr id="3" name="내용 개체 틀 2"/>
          <p:cNvSpPr>
            <a:spLocks noGrp="1"/>
          </p:cNvSpPr>
          <p:nvPr>
            <p:ph idx="1"/>
          </p:nvPr>
        </p:nvSpPr>
        <p:spPr/>
        <p:txBody>
          <a:bodyPr/>
          <a:lstStyle/>
          <a:p>
            <a:r>
              <a:rPr lang="en-US" altLang="ko-KR" dirty="0"/>
              <a:t>Required Textbooks are available on our </a:t>
            </a:r>
            <a:r>
              <a:rPr lang="en-US" altLang="ko-KR" dirty="0" err="1"/>
              <a:t>Cybercampus</a:t>
            </a:r>
            <a:r>
              <a:rPr lang="en-US" altLang="ko-KR" dirty="0"/>
              <a:t> as online pdf texts  </a:t>
            </a:r>
          </a:p>
          <a:p>
            <a:r>
              <a:rPr lang="en-US" altLang="ko-KR" dirty="0"/>
              <a:t>Reading schedule and page numbers will be based on the pdf </a:t>
            </a:r>
            <a:r>
              <a:rPr lang="en-US" altLang="ko-KR" dirty="0" err="1"/>
              <a:t>etext</a:t>
            </a:r>
            <a:br>
              <a:rPr lang="en-US" altLang="ko-KR" dirty="0"/>
            </a:br>
            <a:br>
              <a:rPr lang="en-US" altLang="ko-KR" dirty="0"/>
            </a:br>
            <a:endParaRPr lang="ko-KR" altLang="en-US" dirty="0"/>
          </a:p>
          <a:p>
            <a:endParaRPr lang="ko-KR" altLang="en-US" dirty="0"/>
          </a:p>
        </p:txBody>
      </p:sp>
    </p:spTree>
    <p:extLst>
      <p:ext uri="{BB962C8B-B14F-4D97-AF65-F5344CB8AC3E}">
        <p14:creationId xmlns:p14="http://schemas.microsoft.com/office/powerpoint/2010/main" val="284362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b="1" dirty="0">
                <a:solidFill>
                  <a:srgbClr val="FF0000"/>
                </a:solidFill>
              </a:rPr>
              <a:t>Evaluation</a:t>
            </a:r>
            <a:r>
              <a:rPr lang="ko-KR" altLang="en-US" b="1" dirty="0">
                <a:solidFill>
                  <a:srgbClr val="FF0000"/>
                </a:solidFill>
              </a:rPr>
              <a:t> </a:t>
            </a:r>
            <a:br>
              <a:rPr lang="ko-KR" altLang="en-US" b="1" dirty="0">
                <a:solidFill>
                  <a:srgbClr val="FF0000"/>
                </a:solidFill>
              </a:rPr>
            </a:br>
            <a:endParaRPr lang="ko-KR" altLang="en-US" b="1" dirty="0">
              <a:solidFill>
                <a:srgbClr val="FF0000"/>
              </a:solidFill>
            </a:endParaRPr>
          </a:p>
        </p:txBody>
      </p:sp>
      <p:sp>
        <p:nvSpPr>
          <p:cNvPr id="3" name="내용 개체 틀 2"/>
          <p:cNvSpPr>
            <a:spLocks noGrp="1"/>
          </p:cNvSpPr>
          <p:nvPr>
            <p:ph idx="1"/>
          </p:nvPr>
        </p:nvSpPr>
        <p:spPr/>
        <p:txBody>
          <a:bodyPr>
            <a:normAutofit fontScale="85000" lnSpcReduction="20000"/>
          </a:bodyPr>
          <a:lstStyle/>
          <a:p>
            <a:r>
              <a:rPr lang="en-US" altLang="ko-KR" dirty="0"/>
              <a:t>Attendance  10% </a:t>
            </a:r>
          </a:p>
          <a:p>
            <a:pPr marL="0" indent="0">
              <a:buNone/>
            </a:pPr>
            <a:r>
              <a:rPr lang="en-US" altLang="ko-KR" dirty="0"/>
              <a:t>(</a:t>
            </a:r>
            <a:r>
              <a:rPr lang="en-US" altLang="ko-KR" dirty="0" err="1"/>
              <a:t>Tardies</a:t>
            </a:r>
            <a:r>
              <a:rPr lang="en-US" altLang="ko-KR" dirty="0"/>
              <a:t> and early withdrawals will be penalized)</a:t>
            </a:r>
          </a:p>
          <a:p>
            <a:r>
              <a:rPr lang="en-US" altLang="ko-KR" dirty="0"/>
              <a:t>Midterm exam 30%</a:t>
            </a:r>
          </a:p>
          <a:p>
            <a:r>
              <a:rPr lang="en-US" altLang="ko-KR" dirty="0"/>
              <a:t>Final exam 30%</a:t>
            </a:r>
          </a:p>
          <a:p>
            <a:r>
              <a:rPr lang="en-US" altLang="ko-KR" dirty="0"/>
              <a:t>Group presentation with a </a:t>
            </a:r>
            <a:r>
              <a:rPr lang="en-US" altLang="ko-KR" dirty="0" err="1"/>
              <a:t>powerpoint</a:t>
            </a:r>
            <a:r>
              <a:rPr lang="en-US" altLang="ko-KR" dirty="0"/>
              <a:t> 10% (will be assigned next week)</a:t>
            </a:r>
          </a:p>
          <a:p>
            <a:r>
              <a:rPr lang="en-US" altLang="ko-KR" dirty="0"/>
              <a:t>Individual reading responses (at least 4 total -2 from each book) 10%</a:t>
            </a:r>
          </a:p>
          <a:p>
            <a:r>
              <a:rPr lang="en-US" altLang="ko-KR" dirty="0"/>
              <a:t>Participation (class activities and  class discussion) 10%</a:t>
            </a:r>
            <a:br>
              <a:rPr lang="en-US" altLang="ko-KR" dirty="0"/>
            </a:br>
            <a:r>
              <a:rPr lang="en-US" altLang="ko-KR" dirty="0"/>
              <a:t> </a:t>
            </a:r>
            <a:endParaRPr lang="ko-KR" altLang="en-US" dirty="0"/>
          </a:p>
        </p:txBody>
      </p:sp>
    </p:spTree>
    <p:extLst>
      <p:ext uri="{BB962C8B-B14F-4D97-AF65-F5344CB8AC3E}">
        <p14:creationId xmlns:p14="http://schemas.microsoft.com/office/powerpoint/2010/main" val="1356243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Attendance</a:t>
            </a:r>
            <a:endParaRPr lang="ko-KR" altLang="en-US" dirty="0"/>
          </a:p>
        </p:txBody>
      </p:sp>
      <p:sp>
        <p:nvSpPr>
          <p:cNvPr id="3" name="내용 개체 틀 2"/>
          <p:cNvSpPr>
            <a:spLocks noGrp="1"/>
          </p:cNvSpPr>
          <p:nvPr>
            <p:ph idx="1"/>
          </p:nvPr>
        </p:nvSpPr>
        <p:spPr/>
        <p:txBody>
          <a:bodyPr>
            <a:normAutofit fontScale="77500" lnSpcReduction="20000"/>
          </a:bodyPr>
          <a:lstStyle/>
          <a:p>
            <a:r>
              <a:rPr lang="en-US" altLang="ko-KR" dirty="0"/>
              <a:t>Attendance will be taken promptly at the beginning of the class. </a:t>
            </a:r>
          </a:p>
          <a:p>
            <a:r>
              <a:rPr lang="en-US" altLang="ko-KR" dirty="0"/>
              <a:t>Punctual attendance will be rewarded as extra participation points.  </a:t>
            </a:r>
          </a:p>
          <a:p>
            <a:r>
              <a:rPr lang="en-US" altLang="ko-KR" dirty="0"/>
              <a:t>Please inform me if you are late at the end of the class if you weren’t present during the attendance check)</a:t>
            </a:r>
          </a:p>
          <a:p>
            <a:r>
              <a:rPr lang="en-US" altLang="ko-KR" dirty="0"/>
              <a:t>Early dismissal will also have points taken off. </a:t>
            </a:r>
          </a:p>
          <a:p>
            <a:r>
              <a:rPr lang="en-US" altLang="ko-KR" dirty="0"/>
              <a:t>Any medical or official reasons related to attendance must be informed in advance and documented.</a:t>
            </a:r>
          </a:p>
          <a:p>
            <a:r>
              <a:rPr lang="en-US" altLang="ko-KR" dirty="0"/>
              <a:t>If you miss more than the required college attendance rate, you will fail the course automatically.</a:t>
            </a:r>
            <a:endParaRPr lang="ko-KR" altLang="en-US" dirty="0"/>
          </a:p>
        </p:txBody>
      </p:sp>
    </p:spTree>
    <p:extLst>
      <p:ext uri="{BB962C8B-B14F-4D97-AF65-F5344CB8AC3E}">
        <p14:creationId xmlns:p14="http://schemas.microsoft.com/office/powerpoint/2010/main" val="3628495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539552" y="274638"/>
            <a:ext cx="8147248" cy="994122"/>
          </a:xfrm>
        </p:spPr>
        <p:txBody>
          <a:bodyPr>
            <a:noAutofit/>
          </a:bodyPr>
          <a:lstStyle/>
          <a:p>
            <a:r>
              <a:rPr lang="en-US" altLang="ko-KR" sz="2800" dirty="0"/>
              <a:t>ASSIGNMENTS-WEEKLY PERSONAL READING RESPONSES </a:t>
            </a:r>
            <a:endParaRPr lang="ko-KR" altLang="en-US" sz="2800" dirty="0"/>
          </a:p>
        </p:txBody>
      </p:sp>
      <p:sp>
        <p:nvSpPr>
          <p:cNvPr id="3" name="내용 개체 틀 2"/>
          <p:cNvSpPr>
            <a:spLocks noGrp="1"/>
          </p:cNvSpPr>
          <p:nvPr>
            <p:ph idx="1"/>
          </p:nvPr>
        </p:nvSpPr>
        <p:spPr>
          <a:xfrm>
            <a:off x="395536" y="1484784"/>
            <a:ext cx="8368444" cy="4753744"/>
          </a:xfrm>
        </p:spPr>
        <p:txBody>
          <a:bodyPr>
            <a:noAutofit/>
          </a:bodyPr>
          <a:lstStyle/>
          <a:p>
            <a:r>
              <a:rPr lang="en-US" altLang="ko-KR" sz="2400" dirty="0"/>
              <a:t>Starting from Week 3, you are required to write at least </a:t>
            </a:r>
            <a:r>
              <a:rPr lang="en-US" altLang="ko-KR" sz="2400" b="1" dirty="0">
                <a:solidFill>
                  <a:srgbClr val="FF0000"/>
                </a:solidFill>
              </a:rPr>
              <a:t>4 reading response papers</a:t>
            </a:r>
            <a:r>
              <a:rPr lang="en-US" altLang="ko-KR" sz="2400" dirty="0">
                <a:solidFill>
                  <a:srgbClr val="FF0000"/>
                </a:solidFill>
              </a:rPr>
              <a:t> </a:t>
            </a:r>
            <a:r>
              <a:rPr lang="en-US" altLang="ko-KR" sz="2400" dirty="0"/>
              <a:t>throughout the semester.  (so there is no response paper due next week, but you are required to read anyway)</a:t>
            </a:r>
          </a:p>
          <a:p>
            <a:r>
              <a:rPr lang="en-US" altLang="ko-KR" sz="2400" dirty="0"/>
              <a:t>You are free to choose which dates but you need </a:t>
            </a:r>
            <a:r>
              <a:rPr lang="en-US" altLang="ko-KR" sz="2400" b="1" u="sng" dirty="0">
                <a:solidFill>
                  <a:srgbClr val="FF0000"/>
                </a:solidFill>
              </a:rPr>
              <a:t>at least two reading response for each novel.</a:t>
            </a:r>
            <a:r>
              <a:rPr lang="en-US" altLang="ko-KR" sz="2400" dirty="0"/>
              <a:t> But, you cannot write a reading response on your day of  group presentation.</a:t>
            </a:r>
          </a:p>
          <a:p>
            <a:r>
              <a:rPr lang="en-US" altLang="ko-KR" sz="2400" dirty="0"/>
              <a:t>Additional ones will earn you extra credit and raise your participation points.</a:t>
            </a:r>
          </a:p>
          <a:p>
            <a:r>
              <a:rPr lang="en-US" altLang="ko-KR" sz="2400" dirty="0"/>
              <a:t>You need to </a:t>
            </a:r>
            <a:r>
              <a:rPr lang="en-US" altLang="ko-KR" sz="2400" b="1" dirty="0">
                <a:solidFill>
                  <a:srgbClr val="FF0000"/>
                </a:solidFill>
              </a:rPr>
              <a:t>write about the </a:t>
            </a:r>
            <a:r>
              <a:rPr lang="en-US" altLang="ko-KR" sz="2400" b="1" u="sng" dirty="0">
                <a:solidFill>
                  <a:srgbClr val="FF0000"/>
                </a:solidFill>
              </a:rPr>
              <a:t>upcoming </a:t>
            </a:r>
            <a:r>
              <a:rPr lang="en-US" altLang="ko-KR" sz="2400" b="1" dirty="0">
                <a:solidFill>
                  <a:srgbClr val="FF0000"/>
                </a:solidFill>
              </a:rPr>
              <a:t>class’s reading </a:t>
            </a:r>
            <a:r>
              <a:rPr lang="en-US" altLang="ko-KR" sz="2400" dirty="0"/>
              <a:t>because the aim of this assignment is for you to </a:t>
            </a:r>
            <a:r>
              <a:rPr lang="en-US" altLang="ko-KR" sz="2400" b="1" dirty="0">
                <a:solidFill>
                  <a:srgbClr val="FF0000"/>
                </a:solidFill>
              </a:rPr>
              <a:t>read before the class and think on your own. </a:t>
            </a:r>
            <a:endParaRPr lang="ko-KR" altLang="ko-KR" sz="2400" dirty="0"/>
          </a:p>
        </p:txBody>
      </p:sp>
    </p:spTree>
    <p:extLst>
      <p:ext uri="{BB962C8B-B14F-4D97-AF65-F5344CB8AC3E}">
        <p14:creationId xmlns:p14="http://schemas.microsoft.com/office/powerpoint/2010/main" val="2723120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Reading Responses</a:t>
            </a:r>
            <a:endParaRPr lang="ko-KR" altLang="en-US" dirty="0"/>
          </a:p>
        </p:txBody>
      </p:sp>
      <p:sp>
        <p:nvSpPr>
          <p:cNvPr id="3" name="내용 개체 틀 2"/>
          <p:cNvSpPr>
            <a:spLocks noGrp="1"/>
          </p:cNvSpPr>
          <p:nvPr>
            <p:ph idx="1"/>
          </p:nvPr>
        </p:nvSpPr>
        <p:spPr/>
        <p:txBody>
          <a:bodyPr>
            <a:normAutofit fontScale="92500" lnSpcReduction="10000"/>
          </a:bodyPr>
          <a:lstStyle/>
          <a:p>
            <a:r>
              <a:rPr lang="en-US" altLang="ko-KR" dirty="0"/>
              <a:t>Since our class is on Tuesday 2 </a:t>
            </a:r>
            <a:r>
              <a:rPr lang="en-US" altLang="ko-KR" dirty="0" err="1"/>
              <a:t>p.m</a:t>
            </a:r>
            <a:r>
              <a:rPr lang="en-US" altLang="ko-KR" dirty="0"/>
              <a:t>, please upload your responses </a:t>
            </a:r>
            <a:r>
              <a:rPr lang="en-US" altLang="ko-KR" sz="3600" b="1" u="sng" dirty="0">
                <a:solidFill>
                  <a:srgbClr val="FF0000"/>
                </a:solidFill>
              </a:rPr>
              <a:t>by Tuesday noon</a:t>
            </a:r>
            <a:r>
              <a:rPr lang="en-US" altLang="ko-KR" b="1" u="sng" dirty="0">
                <a:solidFill>
                  <a:srgbClr val="FF0000"/>
                </a:solidFill>
              </a:rPr>
              <a:t> </a:t>
            </a:r>
            <a:r>
              <a:rPr lang="en-US" altLang="ko-KR" dirty="0"/>
              <a:t>before class. </a:t>
            </a:r>
            <a:endParaRPr lang="ko-KR" altLang="ko-KR" dirty="0"/>
          </a:p>
          <a:p>
            <a:r>
              <a:rPr lang="en-US" altLang="ko-KR" dirty="0"/>
              <a:t>The length should be about one to two pages (single-spaced, font size 11-12, </a:t>
            </a:r>
            <a:r>
              <a:rPr lang="en-US" altLang="ko-KR" dirty="0" err="1"/>
              <a:t>butavoid</a:t>
            </a:r>
            <a:r>
              <a:rPr lang="en-US" altLang="ko-KR" dirty="0"/>
              <a:t> writing too long or short)</a:t>
            </a:r>
          </a:p>
          <a:p>
            <a:r>
              <a:rPr lang="en-US" altLang="ko-KR" dirty="0"/>
              <a:t>It can be in English or Korean, but plagiarism is unacceptable. If you are using AI research, be sure to indicate your sources.</a:t>
            </a:r>
            <a:endParaRPr lang="ko-KR" altLang="ko-KR" dirty="0"/>
          </a:p>
          <a:p>
            <a:endParaRPr lang="ko-KR" altLang="en-US" dirty="0"/>
          </a:p>
        </p:txBody>
      </p:sp>
    </p:spTree>
    <p:extLst>
      <p:ext uri="{BB962C8B-B14F-4D97-AF65-F5344CB8AC3E}">
        <p14:creationId xmlns:p14="http://schemas.microsoft.com/office/powerpoint/2010/main" val="2557426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Reading Tips</a:t>
            </a:r>
            <a:endParaRPr lang="ko-KR" altLang="en-US" dirty="0"/>
          </a:p>
        </p:txBody>
      </p:sp>
      <p:sp>
        <p:nvSpPr>
          <p:cNvPr id="3" name="내용 개체 틀 2"/>
          <p:cNvSpPr>
            <a:spLocks noGrp="1"/>
          </p:cNvSpPr>
          <p:nvPr>
            <p:ph idx="1"/>
          </p:nvPr>
        </p:nvSpPr>
        <p:spPr/>
        <p:txBody>
          <a:bodyPr>
            <a:normAutofit/>
          </a:bodyPr>
          <a:lstStyle/>
          <a:p>
            <a:r>
              <a:rPr lang="en-US" altLang="ko-KR" dirty="0"/>
              <a:t>Keeping reading over and over</a:t>
            </a:r>
          </a:p>
          <a:p>
            <a:r>
              <a:rPr lang="en-US" altLang="ko-KR" b="1" dirty="0"/>
              <a:t>Annotate </a:t>
            </a:r>
            <a:r>
              <a:rPr lang="en-US" altLang="ko-KR" dirty="0"/>
              <a:t> the text -Underline or highlight key words and phrases that are important</a:t>
            </a:r>
          </a:p>
          <a:p>
            <a:r>
              <a:rPr lang="en-US" altLang="ko-KR" dirty="0"/>
              <a:t>Look for patterns (repetitions, contrasts </a:t>
            </a:r>
            <a:r>
              <a:rPr lang="en-US" altLang="ko-KR" dirty="0" err="1"/>
              <a:t>etc</a:t>
            </a:r>
            <a:r>
              <a:rPr lang="en-US" altLang="ko-KR" dirty="0"/>
              <a:t>)</a:t>
            </a:r>
          </a:p>
          <a:p>
            <a:r>
              <a:rPr lang="en-US" altLang="ko-KR" dirty="0"/>
              <a:t>Pay attention to aspects of storytelling, development of characters etc.</a:t>
            </a:r>
          </a:p>
          <a:p>
            <a:endParaRPr lang="en-US" altLang="ko-KR" dirty="0"/>
          </a:p>
        </p:txBody>
      </p:sp>
    </p:spTree>
    <p:extLst>
      <p:ext uri="{BB962C8B-B14F-4D97-AF65-F5344CB8AC3E}">
        <p14:creationId xmlns:p14="http://schemas.microsoft.com/office/powerpoint/2010/main" val="3810228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Some issues to consider while reading </a:t>
            </a:r>
            <a:endParaRPr lang="ko-KR" altLang="en-US" dirty="0"/>
          </a:p>
        </p:txBody>
      </p:sp>
      <p:sp>
        <p:nvSpPr>
          <p:cNvPr id="3" name="내용 개체 틀 2"/>
          <p:cNvSpPr>
            <a:spLocks noGrp="1"/>
          </p:cNvSpPr>
          <p:nvPr>
            <p:ph idx="1"/>
          </p:nvPr>
        </p:nvSpPr>
        <p:spPr/>
        <p:txBody>
          <a:bodyPr>
            <a:normAutofit fontScale="85000" lnSpcReduction="10000"/>
          </a:bodyPr>
          <a:lstStyle/>
          <a:p>
            <a:pPr lvl="0" latinLnBrk="0"/>
            <a:r>
              <a:rPr lang="en-US" altLang="ko-KR" dirty="0"/>
              <a:t>What’s your first impression?</a:t>
            </a:r>
          </a:p>
          <a:p>
            <a:pPr lvl="0" latinLnBrk="0"/>
            <a:r>
              <a:rPr lang="ko-KR" altLang="ko-KR" dirty="0" err="1"/>
              <a:t>Were</a:t>
            </a:r>
            <a:r>
              <a:rPr lang="ko-KR" altLang="ko-KR" dirty="0"/>
              <a:t> </a:t>
            </a:r>
            <a:r>
              <a:rPr lang="ko-KR" altLang="ko-KR" dirty="0" err="1"/>
              <a:t>you</a:t>
            </a:r>
            <a:r>
              <a:rPr lang="ko-KR" altLang="ko-KR" dirty="0"/>
              <a:t> </a:t>
            </a:r>
            <a:r>
              <a:rPr lang="ko-KR" altLang="ko-KR" dirty="0" err="1"/>
              <a:t>immediately</a:t>
            </a:r>
            <a:r>
              <a:rPr lang="ko-KR" altLang="ko-KR" dirty="0"/>
              <a:t> </a:t>
            </a:r>
            <a:r>
              <a:rPr lang="ko-KR" altLang="ko-KR" dirty="0" err="1"/>
              <a:t>engaged</a:t>
            </a:r>
            <a:r>
              <a:rPr lang="ko-KR" altLang="ko-KR" dirty="0"/>
              <a:t> </a:t>
            </a:r>
            <a:r>
              <a:rPr lang="ko-KR" altLang="ko-KR" dirty="0" err="1"/>
              <a:t>with</a:t>
            </a:r>
            <a:r>
              <a:rPr lang="ko-KR" altLang="ko-KR" dirty="0"/>
              <a:t> </a:t>
            </a:r>
            <a:r>
              <a:rPr lang="ko-KR" altLang="ko-KR" dirty="0" err="1"/>
              <a:t>the</a:t>
            </a:r>
            <a:r>
              <a:rPr lang="ko-KR" altLang="ko-KR" dirty="0"/>
              <a:t> </a:t>
            </a:r>
            <a:r>
              <a:rPr lang="ko-KR" altLang="ko-KR" dirty="0" err="1"/>
              <a:t>book</a:t>
            </a:r>
            <a:r>
              <a:rPr lang="ko-KR" altLang="ko-KR" dirty="0"/>
              <a:t>, </a:t>
            </a:r>
            <a:r>
              <a:rPr lang="ko-KR" altLang="ko-KR" dirty="0" err="1"/>
              <a:t>or</a:t>
            </a:r>
            <a:r>
              <a:rPr lang="ko-KR" altLang="ko-KR" dirty="0"/>
              <a:t> </a:t>
            </a:r>
            <a:r>
              <a:rPr lang="ko-KR" altLang="ko-KR" dirty="0" err="1"/>
              <a:t>did</a:t>
            </a:r>
            <a:r>
              <a:rPr lang="ko-KR" altLang="ko-KR" dirty="0"/>
              <a:t> </a:t>
            </a:r>
            <a:r>
              <a:rPr lang="ko-KR" altLang="ko-KR" dirty="0" err="1"/>
              <a:t>it</a:t>
            </a:r>
            <a:r>
              <a:rPr lang="ko-KR" altLang="ko-KR" dirty="0"/>
              <a:t> </a:t>
            </a:r>
            <a:r>
              <a:rPr lang="ko-KR" altLang="ko-KR" dirty="0" err="1"/>
              <a:t>take</a:t>
            </a:r>
            <a:r>
              <a:rPr lang="ko-KR" altLang="ko-KR" dirty="0"/>
              <a:t> </a:t>
            </a:r>
            <a:r>
              <a:rPr lang="ko-KR" altLang="ko-KR" dirty="0" err="1"/>
              <a:t>you</a:t>
            </a:r>
            <a:r>
              <a:rPr lang="ko-KR" altLang="ko-KR" dirty="0"/>
              <a:t> </a:t>
            </a:r>
            <a:r>
              <a:rPr lang="ko-KR" altLang="ko-KR" dirty="0" err="1"/>
              <a:t>a</a:t>
            </a:r>
            <a:r>
              <a:rPr lang="ko-KR" altLang="ko-KR" dirty="0"/>
              <a:t> </a:t>
            </a:r>
            <a:r>
              <a:rPr lang="ko-KR" altLang="ko-KR" dirty="0" err="1"/>
              <a:t>while</a:t>
            </a:r>
            <a:r>
              <a:rPr lang="ko-KR" altLang="ko-KR" dirty="0"/>
              <a:t>?</a:t>
            </a:r>
            <a:endParaRPr lang="ko-KR" altLang="ko-KR" sz="1600" dirty="0"/>
          </a:p>
          <a:p>
            <a:pPr lvl="0" latinLnBrk="0"/>
            <a:r>
              <a:rPr lang="ko-KR" altLang="ko-KR" dirty="0" err="1"/>
              <a:t>Does</a:t>
            </a:r>
            <a:r>
              <a:rPr lang="ko-KR" altLang="ko-KR" dirty="0"/>
              <a:t> </a:t>
            </a:r>
            <a:r>
              <a:rPr lang="ko-KR" altLang="ko-KR" dirty="0" err="1"/>
              <a:t>the</a:t>
            </a:r>
            <a:r>
              <a:rPr lang="ko-KR" altLang="ko-KR" dirty="0"/>
              <a:t> </a:t>
            </a:r>
            <a:r>
              <a:rPr lang="ko-KR" altLang="ko-KR" dirty="0" err="1"/>
              <a:t>book</a:t>
            </a:r>
            <a:r>
              <a:rPr lang="ko-KR" altLang="ko-KR" dirty="0"/>
              <a:t> </a:t>
            </a:r>
            <a:r>
              <a:rPr lang="ko-KR" altLang="ko-KR" dirty="0" err="1"/>
              <a:t>remind</a:t>
            </a:r>
            <a:r>
              <a:rPr lang="ko-KR" altLang="ko-KR" dirty="0"/>
              <a:t> </a:t>
            </a:r>
            <a:r>
              <a:rPr lang="ko-KR" altLang="ko-KR" dirty="0" err="1"/>
              <a:t>you</a:t>
            </a:r>
            <a:r>
              <a:rPr lang="ko-KR" altLang="ko-KR" dirty="0"/>
              <a:t> of </a:t>
            </a:r>
            <a:r>
              <a:rPr lang="ko-KR" altLang="ko-KR" dirty="0" err="1"/>
              <a:t>any</a:t>
            </a:r>
            <a:r>
              <a:rPr lang="ko-KR" altLang="ko-KR" dirty="0"/>
              <a:t> </a:t>
            </a:r>
            <a:r>
              <a:rPr lang="ko-KR" altLang="ko-KR" dirty="0" err="1"/>
              <a:t>other</a:t>
            </a:r>
            <a:r>
              <a:rPr lang="ko-KR" altLang="ko-KR" dirty="0"/>
              <a:t> </a:t>
            </a:r>
            <a:r>
              <a:rPr lang="ko-KR" altLang="ko-KR" dirty="0" err="1"/>
              <a:t>books</a:t>
            </a:r>
            <a:r>
              <a:rPr lang="ko-KR" altLang="ko-KR" dirty="0"/>
              <a:t> </a:t>
            </a:r>
            <a:r>
              <a:rPr lang="ko-KR" altLang="ko-KR" dirty="0" err="1"/>
              <a:t>or</a:t>
            </a:r>
            <a:r>
              <a:rPr lang="ko-KR" altLang="ko-KR" dirty="0"/>
              <a:t> </a:t>
            </a:r>
            <a:r>
              <a:rPr lang="ko-KR" altLang="ko-KR" dirty="0" err="1"/>
              <a:t>writers</a:t>
            </a:r>
            <a:r>
              <a:rPr lang="ko-KR" altLang="ko-KR" dirty="0"/>
              <a:t>?</a:t>
            </a:r>
            <a:endParaRPr lang="ko-KR" altLang="ko-KR" sz="1600" dirty="0"/>
          </a:p>
          <a:p>
            <a:pPr lvl="0" latinLnBrk="0"/>
            <a:r>
              <a:rPr lang="ko-KR" altLang="ko-KR" dirty="0" err="1"/>
              <a:t>Who</a:t>
            </a:r>
            <a:r>
              <a:rPr lang="ko-KR" altLang="ko-KR" dirty="0"/>
              <a:t> </a:t>
            </a:r>
            <a:r>
              <a:rPr lang="ko-KR" altLang="ko-KR" dirty="0" err="1"/>
              <a:t>is</a:t>
            </a:r>
            <a:r>
              <a:rPr lang="ko-KR" altLang="ko-KR" dirty="0"/>
              <a:t> </a:t>
            </a:r>
            <a:r>
              <a:rPr lang="ko-KR" altLang="ko-KR" dirty="0" err="1"/>
              <a:t>your</a:t>
            </a:r>
            <a:r>
              <a:rPr lang="ko-KR" altLang="ko-KR" dirty="0"/>
              <a:t> </a:t>
            </a:r>
            <a:r>
              <a:rPr lang="ko-KR" altLang="ko-KR" dirty="0" err="1"/>
              <a:t>favorite</a:t>
            </a:r>
            <a:r>
              <a:rPr lang="ko-KR" altLang="ko-KR" dirty="0"/>
              <a:t> </a:t>
            </a:r>
            <a:r>
              <a:rPr lang="ko-KR" altLang="ko-KR" dirty="0" err="1"/>
              <a:t>character</a:t>
            </a:r>
            <a:r>
              <a:rPr lang="ko-KR" altLang="ko-KR" dirty="0"/>
              <a:t>?</a:t>
            </a:r>
            <a:endParaRPr lang="ko-KR" altLang="ko-KR" sz="1600" dirty="0"/>
          </a:p>
          <a:p>
            <a:pPr lvl="0" latinLnBrk="0"/>
            <a:r>
              <a:rPr lang="ko-KR" altLang="ko-KR" dirty="0" err="1"/>
              <a:t>Describe</a:t>
            </a:r>
            <a:r>
              <a:rPr lang="ko-KR" altLang="ko-KR" dirty="0"/>
              <a:t> </a:t>
            </a:r>
            <a:r>
              <a:rPr lang="ko-KR" altLang="ko-KR" dirty="0" err="1"/>
              <a:t>the</a:t>
            </a:r>
            <a:r>
              <a:rPr lang="ko-KR" altLang="ko-KR" dirty="0"/>
              <a:t> </a:t>
            </a:r>
            <a:r>
              <a:rPr lang="ko-KR" altLang="ko-KR" dirty="0" err="1"/>
              <a:t>main</a:t>
            </a:r>
            <a:r>
              <a:rPr lang="ko-KR" altLang="ko-KR" dirty="0"/>
              <a:t> </a:t>
            </a:r>
            <a:r>
              <a:rPr lang="ko-KR" altLang="ko-KR" dirty="0" err="1"/>
              <a:t>character’s</a:t>
            </a:r>
            <a:r>
              <a:rPr lang="ko-KR" altLang="ko-KR" dirty="0"/>
              <a:t> </a:t>
            </a:r>
            <a:r>
              <a:rPr lang="ko-KR" altLang="ko-KR" dirty="0" err="1"/>
              <a:t>personality</a:t>
            </a:r>
            <a:r>
              <a:rPr lang="ko-KR" altLang="ko-KR" dirty="0"/>
              <a:t> </a:t>
            </a:r>
            <a:r>
              <a:rPr lang="ko-KR" altLang="ko-KR" dirty="0" err="1"/>
              <a:t>traits</a:t>
            </a:r>
            <a:r>
              <a:rPr lang="ko-KR" altLang="ko-KR" dirty="0"/>
              <a:t>:</a:t>
            </a:r>
            <a:endParaRPr lang="ko-KR" altLang="ko-KR" sz="1600" dirty="0"/>
          </a:p>
          <a:p>
            <a:pPr lvl="1" latinLnBrk="0"/>
            <a:r>
              <a:rPr lang="ko-KR" altLang="ko-KR" dirty="0" err="1"/>
              <a:t>How</a:t>
            </a:r>
            <a:r>
              <a:rPr lang="ko-KR" altLang="ko-KR" dirty="0"/>
              <a:t> </a:t>
            </a:r>
            <a:r>
              <a:rPr lang="ko-KR" altLang="ko-KR" dirty="0" err="1"/>
              <a:t>has</a:t>
            </a:r>
            <a:r>
              <a:rPr lang="ko-KR" altLang="ko-KR" dirty="0"/>
              <a:t> </a:t>
            </a:r>
            <a:r>
              <a:rPr lang="ko-KR" altLang="ko-KR" dirty="0" err="1"/>
              <a:t>the</a:t>
            </a:r>
            <a:r>
              <a:rPr lang="ko-KR" altLang="ko-KR" dirty="0"/>
              <a:t> </a:t>
            </a:r>
            <a:r>
              <a:rPr lang="ko-KR" altLang="ko-KR" dirty="0" err="1"/>
              <a:t>past</a:t>
            </a:r>
            <a:r>
              <a:rPr lang="ko-KR" altLang="ko-KR" dirty="0"/>
              <a:t> </a:t>
            </a:r>
            <a:r>
              <a:rPr lang="ko-KR" altLang="ko-KR" dirty="0" err="1"/>
              <a:t>shaped</a:t>
            </a:r>
            <a:r>
              <a:rPr lang="ko-KR" altLang="ko-KR" dirty="0"/>
              <a:t> </a:t>
            </a:r>
            <a:r>
              <a:rPr lang="ko-KR" altLang="ko-KR" dirty="0" err="1"/>
              <a:t>their</a:t>
            </a:r>
            <a:r>
              <a:rPr lang="ko-KR" altLang="ko-KR" dirty="0"/>
              <a:t> </a:t>
            </a:r>
            <a:r>
              <a:rPr lang="ko-KR" altLang="ko-KR" dirty="0" err="1"/>
              <a:t>lives</a:t>
            </a:r>
            <a:r>
              <a:rPr lang="ko-KR" altLang="ko-KR" dirty="0"/>
              <a:t>?</a:t>
            </a:r>
            <a:endParaRPr lang="ko-KR" altLang="ko-KR" sz="1400" dirty="0"/>
          </a:p>
          <a:p>
            <a:pPr lvl="1" latinLnBrk="0"/>
            <a:r>
              <a:rPr lang="ko-KR" altLang="ko-KR" dirty="0" err="1"/>
              <a:t>Do</a:t>
            </a:r>
            <a:r>
              <a:rPr lang="ko-KR" altLang="ko-KR" dirty="0"/>
              <a:t> </a:t>
            </a:r>
            <a:r>
              <a:rPr lang="ko-KR" altLang="ko-KR" dirty="0" err="1"/>
              <a:t>you</a:t>
            </a:r>
            <a:r>
              <a:rPr lang="ko-KR" altLang="ko-KR" dirty="0"/>
              <a:t> </a:t>
            </a:r>
            <a:r>
              <a:rPr lang="ko-KR" altLang="ko-KR" dirty="0" err="1"/>
              <a:t>admire</a:t>
            </a:r>
            <a:r>
              <a:rPr lang="ko-KR" altLang="ko-KR" dirty="0"/>
              <a:t> </a:t>
            </a:r>
            <a:r>
              <a:rPr lang="ko-KR" altLang="ko-KR" dirty="0" err="1"/>
              <a:t>or</a:t>
            </a:r>
            <a:r>
              <a:rPr lang="ko-KR" altLang="ko-KR" dirty="0"/>
              <a:t> </a:t>
            </a:r>
            <a:r>
              <a:rPr lang="ko-KR" altLang="ko-KR" dirty="0" err="1"/>
              <a:t>disapprove</a:t>
            </a:r>
            <a:r>
              <a:rPr lang="ko-KR" altLang="ko-KR" dirty="0"/>
              <a:t> of </a:t>
            </a:r>
            <a:r>
              <a:rPr lang="ko-KR" altLang="ko-KR" dirty="0" err="1"/>
              <a:t>them</a:t>
            </a:r>
            <a:r>
              <a:rPr lang="ko-KR" altLang="ko-KR" dirty="0"/>
              <a:t>?</a:t>
            </a:r>
            <a:endParaRPr lang="ko-KR" altLang="ko-KR" sz="1400" dirty="0"/>
          </a:p>
          <a:p>
            <a:pPr lvl="1" latinLnBrk="0"/>
            <a:r>
              <a:rPr lang="ko-KR" altLang="ko-KR" dirty="0" err="1"/>
              <a:t>Do</a:t>
            </a:r>
            <a:r>
              <a:rPr lang="ko-KR" altLang="ko-KR" dirty="0"/>
              <a:t> </a:t>
            </a:r>
            <a:r>
              <a:rPr lang="ko-KR" altLang="ko-KR" dirty="0" err="1"/>
              <a:t>they</a:t>
            </a:r>
            <a:r>
              <a:rPr lang="ko-KR" altLang="ko-KR" dirty="0"/>
              <a:t> </a:t>
            </a:r>
            <a:r>
              <a:rPr lang="ko-KR" altLang="ko-KR" dirty="0" err="1"/>
              <a:t>remind</a:t>
            </a:r>
            <a:r>
              <a:rPr lang="ko-KR" altLang="ko-KR" dirty="0"/>
              <a:t> </a:t>
            </a:r>
            <a:r>
              <a:rPr lang="ko-KR" altLang="ko-KR" dirty="0" err="1"/>
              <a:t>you</a:t>
            </a:r>
            <a:r>
              <a:rPr lang="ko-KR" altLang="ko-KR" dirty="0"/>
              <a:t> of </a:t>
            </a:r>
            <a:r>
              <a:rPr lang="ko-KR" altLang="ko-KR" dirty="0" err="1"/>
              <a:t>people</a:t>
            </a:r>
            <a:r>
              <a:rPr lang="ko-KR" altLang="ko-KR" dirty="0"/>
              <a:t> </a:t>
            </a:r>
            <a:r>
              <a:rPr lang="ko-KR" altLang="ko-KR" dirty="0" err="1"/>
              <a:t>you</a:t>
            </a:r>
            <a:r>
              <a:rPr lang="ko-KR" altLang="ko-KR" dirty="0"/>
              <a:t> </a:t>
            </a:r>
            <a:r>
              <a:rPr lang="ko-KR" altLang="ko-KR" dirty="0" err="1"/>
              <a:t>know</a:t>
            </a:r>
            <a:r>
              <a:rPr lang="ko-KR" altLang="ko-KR" dirty="0"/>
              <a:t>?</a:t>
            </a:r>
            <a:endParaRPr lang="ko-KR" altLang="ko-KR" sz="1400" dirty="0"/>
          </a:p>
        </p:txBody>
      </p:sp>
    </p:spTree>
    <p:extLst>
      <p:ext uri="{BB962C8B-B14F-4D97-AF65-F5344CB8AC3E}">
        <p14:creationId xmlns:p14="http://schemas.microsoft.com/office/powerpoint/2010/main" val="2083295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lnSpcReduction="20000"/>
          </a:bodyPr>
          <a:lstStyle/>
          <a:p>
            <a:pPr lvl="0" latinLnBrk="0"/>
            <a:r>
              <a:rPr lang="en-US" altLang="ko-KR" dirty="0"/>
              <a:t>Pay attention to</a:t>
            </a:r>
            <a:r>
              <a:rPr lang="ko-KR" altLang="ko-KR" dirty="0"/>
              <a:t> </a:t>
            </a:r>
            <a:r>
              <a:rPr lang="ko-KR" altLang="ko-KR" dirty="0" err="1"/>
              <a:t>the</a:t>
            </a:r>
            <a:r>
              <a:rPr lang="ko-KR" altLang="ko-KR" dirty="0"/>
              <a:t> </a:t>
            </a:r>
            <a:r>
              <a:rPr lang="ko-KR" altLang="ko-KR" dirty="0" err="1"/>
              <a:t>plot</a:t>
            </a:r>
            <a:r>
              <a:rPr lang="en-US" altLang="ko-KR" dirty="0"/>
              <a:t> or what is going on inside the character’s mind</a:t>
            </a:r>
            <a:endParaRPr lang="ko-KR" altLang="ko-KR" sz="1600" dirty="0"/>
          </a:p>
          <a:p>
            <a:pPr lvl="1" latinLnBrk="0"/>
            <a:r>
              <a:rPr lang="ko-KR" altLang="ko-KR" dirty="0" err="1"/>
              <a:t>Is</a:t>
            </a:r>
            <a:r>
              <a:rPr lang="ko-KR" altLang="ko-KR" dirty="0"/>
              <a:t> </a:t>
            </a:r>
            <a:r>
              <a:rPr lang="ko-KR" altLang="ko-KR" dirty="0" err="1"/>
              <a:t>the</a:t>
            </a:r>
            <a:r>
              <a:rPr lang="ko-KR" altLang="ko-KR" dirty="0"/>
              <a:t> </a:t>
            </a:r>
            <a:r>
              <a:rPr lang="ko-KR" altLang="ko-KR" dirty="0" err="1"/>
              <a:t>story</a:t>
            </a:r>
            <a:r>
              <a:rPr lang="ko-KR" altLang="ko-KR" dirty="0"/>
              <a:t> </a:t>
            </a:r>
            <a:r>
              <a:rPr lang="ko-KR" altLang="ko-KR" dirty="0" err="1"/>
              <a:t>interesting</a:t>
            </a:r>
            <a:r>
              <a:rPr lang="ko-KR" altLang="ko-KR" dirty="0"/>
              <a:t>?</a:t>
            </a:r>
            <a:endParaRPr lang="ko-KR" altLang="ko-KR" sz="1400" dirty="0"/>
          </a:p>
          <a:p>
            <a:pPr lvl="1" latinLnBrk="0"/>
            <a:r>
              <a:rPr lang="ko-KR" altLang="ko-KR" dirty="0" err="1"/>
              <a:t>Is</a:t>
            </a:r>
            <a:r>
              <a:rPr lang="ko-KR" altLang="ko-KR" dirty="0"/>
              <a:t> </a:t>
            </a:r>
            <a:r>
              <a:rPr lang="ko-KR" altLang="ko-KR" dirty="0" err="1"/>
              <a:t>the</a:t>
            </a:r>
            <a:r>
              <a:rPr lang="ko-KR" altLang="ko-KR" dirty="0"/>
              <a:t> </a:t>
            </a:r>
            <a:r>
              <a:rPr lang="ko-KR" altLang="ko-KR" dirty="0" err="1"/>
              <a:t>story</a:t>
            </a:r>
            <a:r>
              <a:rPr lang="ko-KR" altLang="ko-KR" dirty="0"/>
              <a:t> </a:t>
            </a:r>
            <a:r>
              <a:rPr lang="ko-KR" altLang="ko-KR" dirty="0" err="1"/>
              <a:t>plot</a:t>
            </a:r>
            <a:r>
              <a:rPr lang="ko-KR" altLang="ko-KR" dirty="0"/>
              <a:t> </a:t>
            </a:r>
            <a:r>
              <a:rPr lang="ko-KR" altLang="ko-KR" dirty="0" err="1"/>
              <a:t>driven</a:t>
            </a:r>
            <a:r>
              <a:rPr lang="ko-KR" altLang="ko-KR" dirty="0"/>
              <a:t>?</a:t>
            </a:r>
            <a:endParaRPr lang="en-US" altLang="ko-KR" dirty="0"/>
          </a:p>
          <a:p>
            <a:pPr lvl="1" latinLnBrk="0"/>
            <a:r>
              <a:rPr lang="en-US" altLang="ko-KR" dirty="0"/>
              <a:t>How does each character see the reality differently?</a:t>
            </a:r>
            <a:endParaRPr lang="ko-KR" altLang="ko-KR" sz="1400" dirty="0"/>
          </a:p>
          <a:p>
            <a:pPr lvl="0" latinLnBrk="0"/>
            <a:r>
              <a:rPr lang="ko-KR" altLang="ko-KR" dirty="0" err="1"/>
              <a:t>Discuss</a:t>
            </a:r>
            <a:r>
              <a:rPr lang="ko-KR" altLang="ko-KR" dirty="0"/>
              <a:t> </a:t>
            </a:r>
            <a:r>
              <a:rPr lang="ko-KR" altLang="ko-KR" dirty="0" err="1"/>
              <a:t>the</a:t>
            </a:r>
            <a:r>
              <a:rPr lang="ko-KR" altLang="ko-KR" dirty="0"/>
              <a:t> </a:t>
            </a:r>
            <a:r>
              <a:rPr lang="ko-KR" altLang="ko-KR" dirty="0" err="1"/>
              <a:t>book’s</a:t>
            </a:r>
            <a:r>
              <a:rPr lang="ko-KR" altLang="ko-KR" dirty="0"/>
              <a:t> </a:t>
            </a:r>
            <a:r>
              <a:rPr lang="ko-KR" altLang="ko-KR" dirty="0" err="1"/>
              <a:t>structure</a:t>
            </a:r>
            <a:r>
              <a:rPr lang="ko-KR" altLang="ko-KR" dirty="0"/>
              <a:t>:</a:t>
            </a:r>
            <a:endParaRPr lang="ko-KR" altLang="ko-KR" sz="1600" dirty="0"/>
          </a:p>
          <a:p>
            <a:pPr lvl="1" latinLnBrk="0"/>
            <a:r>
              <a:rPr lang="ko-KR" altLang="ko-KR" dirty="0" err="1"/>
              <a:t>Does</a:t>
            </a:r>
            <a:r>
              <a:rPr lang="ko-KR" altLang="ko-KR" dirty="0"/>
              <a:t> </a:t>
            </a:r>
            <a:r>
              <a:rPr lang="ko-KR" altLang="ko-KR" dirty="0" err="1"/>
              <a:t>the</a:t>
            </a:r>
            <a:r>
              <a:rPr lang="ko-KR" altLang="ko-KR" dirty="0"/>
              <a:t> </a:t>
            </a:r>
            <a:r>
              <a:rPr lang="ko-KR" altLang="ko-KR" dirty="0" err="1"/>
              <a:t>timeline</a:t>
            </a:r>
            <a:r>
              <a:rPr lang="ko-KR" altLang="ko-KR" dirty="0"/>
              <a:t> </a:t>
            </a:r>
            <a:r>
              <a:rPr lang="ko-KR" altLang="ko-KR" dirty="0" err="1"/>
              <a:t>move</a:t>
            </a:r>
            <a:r>
              <a:rPr lang="ko-KR" altLang="ko-KR" dirty="0"/>
              <a:t> </a:t>
            </a:r>
            <a:r>
              <a:rPr lang="ko-KR" altLang="ko-KR" dirty="0" err="1"/>
              <a:t>forward</a:t>
            </a:r>
            <a:r>
              <a:rPr lang="ko-KR" altLang="ko-KR" dirty="0"/>
              <a:t> </a:t>
            </a:r>
            <a:r>
              <a:rPr lang="ko-KR" altLang="ko-KR" dirty="0" err="1"/>
              <a:t>chronologically</a:t>
            </a:r>
            <a:r>
              <a:rPr lang="ko-KR" altLang="ko-KR" dirty="0"/>
              <a:t>?</a:t>
            </a:r>
            <a:endParaRPr lang="ko-KR" altLang="ko-KR" sz="1400" dirty="0"/>
          </a:p>
          <a:p>
            <a:pPr lvl="1" latinLnBrk="0"/>
            <a:r>
              <a:rPr lang="ko-KR" altLang="ko-KR" dirty="0" err="1"/>
              <a:t>Is</a:t>
            </a:r>
            <a:r>
              <a:rPr lang="ko-KR" altLang="ko-KR" dirty="0"/>
              <a:t> </a:t>
            </a:r>
            <a:r>
              <a:rPr lang="ko-KR" altLang="ko-KR" dirty="0" err="1"/>
              <a:t>there</a:t>
            </a:r>
            <a:r>
              <a:rPr lang="ko-KR" altLang="ko-KR" dirty="0"/>
              <a:t> </a:t>
            </a:r>
            <a:r>
              <a:rPr lang="ko-KR" altLang="ko-KR" dirty="0" err="1"/>
              <a:t>a</a:t>
            </a:r>
            <a:r>
              <a:rPr lang="ko-KR" altLang="ko-KR" dirty="0"/>
              <a:t> </a:t>
            </a:r>
            <a:r>
              <a:rPr lang="ko-KR" altLang="ko-KR" dirty="0" err="1"/>
              <a:t>single</a:t>
            </a:r>
            <a:r>
              <a:rPr lang="ko-KR" altLang="ko-KR" dirty="0"/>
              <a:t> </a:t>
            </a:r>
            <a:r>
              <a:rPr lang="ko-KR" altLang="ko-KR" dirty="0" err="1"/>
              <a:t>viewpoint</a:t>
            </a:r>
            <a:r>
              <a:rPr lang="ko-KR" altLang="ko-KR" dirty="0"/>
              <a:t> </a:t>
            </a:r>
            <a:r>
              <a:rPr lang="ko-KR" altLang="ko-KR" dirty="0" err="1"/>
              <a:t>or</a:t>
            </a:r>
            <a:r>
              <a:rPr lang="ko-KR" altLang="ko-KR" dirty="0"/>
              <a:t> </a:t>
            </a:r>
            <a:r>
              <a:rPr lang="ko-KR" altLang="ko-KR" dirty="0" err="1"/>
              <a:t>shifting</a:t>
            </a:r>
            <a:r>
              <a:rPr lang="ko-KR" altLang="ko-KR" dirty="0"/>
              <a:t> </a:t>
            </a:r>
            <a:r>
              <a:rPr lang="ko-KR" altLang="ko-KR" dirty="0" err="1"/>
              <a:t>viewpoints</a:t>
            </a:r>
            <a:r>
              <a:rPr lang="ko-KR" altLang="ko-KR" dirty="0"/>
              <a:t>?</a:t>
            </a:r>
            <a:endParaRPr lang="ko-KR" altLang="ko-KR" sz="1400" dirty="0"/>
          </a:p>
          <a:p>
            <a:pPr lvl="1" latinLnBrk="0"/>
            <a:r>
              <a:rPr lang="ko-KR" altLang="ko-KR" dirty="0" err="1"/>
              <a:t>Why</a:t>
            </a:r>
            <a:r>
              <a:rPr lang="ko-KR" altLang="ko-KR" dirty="0"/>
              <a:t> </a:t>
            </a:r>
            <a:r>
              <a:rPr lang="ko-KR" altLang="ko-KR" dirty="0" err="1"/>
              <a:t>did</a:t>
            </a:r>
            <a:r>
              <a:rPr lang="ko-KR" altLang="ko-KR" dirty="0"/>
              <a:t> </a:t>
            </a:r>
            <a:r>
              <a:rPr lang="ko-KR" altLang="ko-KR" dirty="0" err="1"/>
              <a:t>the</a:t>
            </a:r>
            <a:r>
              <a:rPr lang="ko-KR" altLang="ko-KR" dirty="0"/>
              <a:t> </a:t>
            </a:r>
            <a:r>
              <a:rPr lang="ko-KR" altLang="ko-KR" dirty="0" err="1"/>
              <a:t>author</a:t>
            </a:r>
            <a:r>
              <a:rPr lang="ko-KR" altLang="ko-KR" dirty="0"/>
              <a:t> </a:t>
            </a:r>
            <a:r>
              <a:rPr lang="ko-KR" altLang="ko-KR" dirty="0" err="1"/>
              <a:t>tell</a:t>
            </a:r>
            <a:r>
              <a:rPr lang="ko-KR" altLang="ko-KR" dirty="0"/>
              <a:t> </a:t>
            </a:r>
            <a:r>
              <a:rPr lang="ko-KR" altLang="ko-KR" dirty="0" err="1"/>
              <a:t>the</a:t>
            </a:r>
            <a:r>
              <a:rPr lang="ko-KR" altLang="ko-KR" dirty="0"/>
              <a:t> </a:t>
            </a:r>
            <a:r>
              <a:rPr lang="ko-KR" altLang="ko-KR" dirty="0" err="1"/>
              <a:t>story</a:t>
            </a:r>
            <a:r>
              <a:rPr lang="ko-KR" altLang="ko-KR" dirty="0"/>
              <a:t> </a:t>
            </a:r>
            <a:r>
              <a:rPr lang="ko-KR" altLang="ko-KR" dirty="0" err="1"/>
              <a:t>this</a:t>
            </a:r>
            <a:r>
              <a:rPr lang="ko-KR" altLang="ko-KR" dirty="0"/>
              <a:t> </a:t>
            </a:r>
            <a:r>
              <a:rPr lang="ko-KR" altLang="ko-KR" dirty="0" err="1"/>
              <a:t>way</a:t>
            </a:r>
            <a:r>
              <a:rPr lang="en-US" altLang="ko-KR" dirty="0"/>
              <a:t>?</a:t>
            </a:r>
            <a:endParaRPr lang="ko-KR" altLang="en-US" dirty="0"/>
          </a:p>
        </p:txBody>
      </p:sp>
    </p:spTree>
    <p:extLst>
      <p:ext uri="{BB962C8B-B14F-4D97-AF65-F5344CB8AC3E}">
        <p14:creationId xmlns:p14="http://schemas.microsoft.com/office/powerpoint/2010/main" val="2785652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a:bodyPr>
          <a:lstStyle/>
          <a:p>
            <a:pPr marL="0" lvl="0" indent="0" latinLnBrk="0">
              <a:buNone/>
            </a:pPr>
            <a:endParaRPr lang="ko-KR" altLang="ko-KR" sz="1400" dirty="0"/>
          </a:p>
          <a:p>
            <a:pPr lvl="0" latinLnBrk="0"/>
            <a:r>
              <a:rPr lang="ko-KR" altLang="ko-KR" dirty="0" err="1"/>
              <a:t>What</a:t>
            </a:r>
            <a:r>
              <a:rPr lang="ko-KR" altLang="ko-KR" dirty="0"/>
              <a:t> </a:t>
            </a:r>
            <a:r>
              <a:rPr lang="ko-KR" altLang="ko-KR" dirty="0" err="1"/>
              <a:t>main</a:t>
            </a:r>
            <a:r>
              <a:rPr lang="ko-KR" altLang="ko-KR" dirty="0"/>
              <a:t> </a:t>
            </a:r>
            <a:r>
              <a:rPr lang="ko-KR" altLang="ko-KR" dirty="0" err="1"/>
              <a:t>ideas</a:t>
            </a:r>
            <a:r>
              <a:rPr lang="ko-KR" altLang="ko-KR" dirty="0"/>
              <a:t> </a:t>
            </a:r>
            <a:r>
              <a:rPr lang="ko-KR" altLang="ko-KR" dirty="0" err="1"/>
              <a:t>or</a:t>
            </a:r>
            <a:r>
              <a:rPr lang="ko-KR" altLang="ko-KR" dirty="0"/>
              <a:t> </a:t>
            </a:r>
            <a:r>
              <a:rPr lang="ko-KR" altLang="ko-KR" dirty="0" err="1"/>
              <a:t>themes</a:t>
            </a:r>
            <a:r>
              <a:rPr lang="ko-KR" altLang="ko-KR" dirty="0"/>
              <a:t> </a:t>
            </a:r>
            <a:r>
              <a:rPr lang="ko-KR" altLang="ko-KR" dirty="0" err="1"/>
              <a:t>does</a:t>
            </a:r>
            <a:r>
              <a:rPr lang="ko-KR" altLang="ko-KR" dirty="0"/>
              <a:t> </a:t>
            </a:r>
            <a:r>
              <a:rPr lang="ko-KR" altLang="ko-KR" dirty="0" err="1"/>
              <a:t>the</a:t>
            </a:r>
            <a:r>
              <a:rPr lang="ko-KR" altLang="ko-KR" dirty="0"/>
              <a:t> </a:t>
            </a:r>
            <a:r>
              <a:rPr lang="ko-KR" altLang="ko-KR" dirty="0" err="1"/>
              <a:t>author</a:t>
            </a:r>
            <a:r>
              <a:rPr lang="ko-KR" altLang="ko-KR" dirty="0"/>
              <a:t> </a:t>
            </a:r>
            <a:r>
              <a:rPr lang="ko-KR" altLang="ko-KR" dirty="0" err="1"/>
              <a:t>explore</a:t>
            </a:r>
            <a:r>
              <a:rPr lang="ko-KR" altLang="ko-KR" dirty="0"/>
              <a:t>?</a:t>
            </a:r>
            <a:endParaRPr lang="ko-KR" altLang="ko-KR" sz="1600" dirty="0"/>
          </a:p>
          <a:p>
            <a:pPr lvl="0" latinLnBrk="0"/>
            <a:r>
              <a:rPr lang="en-US" altLang="ko-KR" dirty="0"/>
              <a:t>What do you like or dislike, or find confusing or interesting overall? </a:t>
            </a:r>
            <a:endParaRPr lang="ko-KR" altLang="ko-KR" sz="1600" dirty="0"/>
          </a:p>
          <a:p>
            <a:pPr lvl="0" latinLnBrk="0"/>
            <a:r>
              <a:rPr lang="ko-KR" altLang="ko-KR" dirty="0" err="1"/>
              <a:t>Is</a:t>
            </a:r>
            <a:r>
              <a:rPr lang="ko-KR" altLang="ko-KR" dirty="0"/>
              <a:t> </a:t>
            </a:r>
            <a:r>
              <a:rPr lang="ko-KR" altLang="ko-KR" dirty="0" err="1"/>
              <a:t>the</a:t>
            </a:r>
            <a:r>
              <a:rPr lang="ko-KR" altLang="ko-KR" dirty="0"/>
              <a:t> </a:t>
            </a:r>
            <a:r>
              <a:rPr lang="ko-KR" altLang="ko-KR" dirty="0" err="1"/>
              <a:t>ending</a:t>
            </a:r>
            <a:r>
              <a:rPr lang="ko-KR" altLang="ko-KR" dirty="0"/>
              <a:t> </a:t>
            </a:r>
            <a:r>
              <a:rPr lang="ko-KR" altLang="ko-KR" dirty="0" err="1"/>
              <a:t>satisfying</a:t>
            </a:r>
            <a:r>
              <a:rPr lang="ko-KR" altLang="ko-KR" dirty="0"/>
              <a:t>? </a:t>
            </a:r>
            <a:r>
              <a:rPr lang="ko-KR" altLang="ko-KR" dirty="0" err="1"/>
              <a:t>Has</a:t>
            </a:r>
            <a:r>
              <a:rPr lang="ko-KR" altLang="ko-KR" dirty="0"/>
              <a:t> </a:t>
            </a:r>
            <a:r>
              <a:rPr lang="ko-KR" altLang="ko-KR" dirty="0" err="1"/>
              <a:t>the</a:t>
            </a:r>
            <a:r>
              <a:rPr lang="ko-KR" altLang="ko-KR" dirty="0"/>
              <a:t> </a:t>
            </a:r>
            <a:r>
              <a:rPr lang="ko-KR" altLang="ko-KR" dirty="0" err="1"/>
              <a:t>book</a:t>
            </a:r>
            <a:r>
              <a:rPr lang="ko-KR" altLang="ko-KR" dirty="0"/>
              <a:t> </a:t>
            </a:r>
            <a:r>
              <a:rPr lang="ko-KR" altLang="ko-KR" dirty="0" err="1"/>
              <a:t>changed</a:t>
            </a:r>
            <a:r>
              <a:rPr lang="ko-KR" altLang="ko-KR" dirty="0"/>
              <a:t> </a:t>
            </a:r>
            <a:r>
              <a:rPr lang="ko-KR" altLang="ko-KR" dirty="0" err="1"/>
              <a:t>you</a:t>
            </a:r>
            <a:r>
              <a:rPr lang="ko-KR" altLang="ko-KR" dirty="0"/>
              <a:t>? </a:t>
            </a:r>
            <a:r>
              <a:rPr lang="ko-KR" altLang="ko-KR" dirty="0" err="1"/>
              <a:t>Have</a:t>
            </a:r>
            <a:r>
              <a:rPr lang="ko-KR" altLang="ko-KR" dirty="0"/>
              <a:t> </a:t>
            </a:r>
            <a:r>
              <a:rPr lang="ko-KR" altLang="ko-KR" dirty="0" err="1"/>
              <a:t>you</a:t>
            </a:r>
            <a:r>
              <a:rPr lang="ko-KR" altLang="ko-KR" dirty="0"/>
              <a:t> </a:t>
            </a:r>
            <a:r>
              <a:rPr lang="ko-KR" altLang="ko-KR" dirty="0" err="1"/>
              <a:t>learned</a:t>
            </a:r>
            <a:r>
              <a:rPr lang="ko-KR" altLang="ko-KR" dirty="0"/>
              <a:t> </a:t>
            </a:r>
            <a:r>
              <a:rPr lang="ko-KR" altLang="ko-KR" dirty="0" err="1"/>
              <a:t>something</a:t>
            </a:r>
            <a:r>
              <a:rPr lang="ko-KR" altLang="ko-KR" dirty="0"/>
              <a:t>?</a:t>
            </a:r>
            <a:r>
              <a:rPr lang="en-US" altLang="ko-KR" dirty="0"/>
              <a:t> How does the novel relate to your own experience or enlarge your viewpoint?</a:t>
            </a:r>
            <a:endParaRPr lang="ko-KR" altLang="ko-KR" sz="1600" dirty="0"/>
          </a:p>
        </p:txBody>
      </p:sp>
    </p:spTree>
    <p:extLst>
      <p:ext uri="{BB962C8B-B14F-4D97-AF65-F5344CB8AC3E}">
        <p14:creationId xmlns:p14="http://schemas.microsoft.com/office/powerpoint/2010/main" val="1189077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Reading Responses Tips</a:t>
            </a:r>
            <a:endParaRPr lang="ko-KR" altLang="en-US" dirty="0"/>
          </a:p>
        </p:txBody>
      </p:sp>
      <p:sp>
        <p:nvSpPr>
          <p:cNvPr id="3" name="내용 개체 틀 2"/>
          <p:cNvSpPr>
            <a:spLocks noGrp="1"/>
          </p:cNvSpPr>
          <p:nvPr>
            <p:ph idx="1"/>
          </p:nvPr>
        </p:nvSpPr>
        <p:spPr/>
        <p:txBody>
          <a:bodyPr>
            <a:normAutofit fontScale="70000" lnSpcReduction="20000"/>
          </a:bodyPr>
          <a:lstStyle/>
          <a:p>
            <a:r>
              <a:rPr lang="en-US" altLang="ko-KR" dirty="0"/>
              <a:t>It has to show that you read the text carefully and your honest frank responses to your reading experience.</a:t>
            </a:r>
          </a:p>
          <a:p>
            <a:r>
              <a:rPr lang="en-US" altLang="ko-KR" dirty="0"/>
              <a:t>Avoid summarizing the plot but focus on your opinion based on what you read. </a:t>
            </a:r>
          </a:p>
          <a:p>
            <a:r>
              <a:rPr lang="en-US" altLang="ko-KR" dirty="0"/>
              <a:t>You may write about what you like or dislike, what seems unusual or confusing, or what seems to be interesting about that weekly reading. </a:t>
            </a:r>
          </a:p>
          <a:p>
            <a:r>
              <a:rPr lang="en-US" altLang="ko-KR" dirty="0"/>
              <a:t>You can also pose one clearly stated discussion question(s) of your own and follow up with your own response. </a:t>
            </a:r>
          </a:p>
          <a:p>
            <a:r>
              <a:rPr lang="en-US" altLang="ko-KR" dirty="0"/>
              <a:t>Try to show that you have read the text in detail (</a:t>
            </a:r>
            <a:r>
              <a:rPr lang="en-US" altLang="ko-KR" dirty="0" err="1"/>
              <a:t>ie</a:t>
            </a:r>
            <a:r>
              <a:rPr lang="en-US" altLang="ko-KR" dirty="0"/>
              <a:t>) refer to specific passage) and thought about it carefully.  </a:t>
            </a:r>
          </a:p>
          <a:p>
            <a:r>
              <a:rPr lang="en-US" altLang="ko-KR" dirty="0"/>
              <a:t>If you are using other resources such as AI, you need to indicate the source “According to chat GPT,…” instead of just copying it.</a:t>
            </a:r>
            <a:endParaRPr lang="ko-KR" altLang="en-US" dirty="0"/>
          </a:p>
          <a:p>
            <a:endParaRPr lang="ko-KR" altLang="en-US" dirty="0"/>
          </a:p>
        </p:txBody>
      </p:sp>
    </p:spTree>
    <p:extLst>
      <p:ext uri="{BB962C8B-B14F-4D97-AF65-F5344CB8AC3E}">
        <p14:creationId xmlns:p14="http://schemas.microsoft.com/office/powerpoint/2010/main" val="3455778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Participation counts!</a:t>
            </a:r>
            <a:endParaRPr lang="ko-KR" altLang="en-US" dirty="0"/>
          </a:p>
        </p:txBody>
      </p:sp>
      <p:sp>
        <p:nvSpPr>
          <p:cNvPr id="3" name="내용 개체 틀 2"/>
          <p:cNvSpPr>
            <a:spLocks noGrp="1"/>
          </p:cNvSpPr>
          <p:nvPr>
            <p:ph idx="1"/>
          </p:nvPr>
        </p:nvSpPr>
        <p:spPr/>
        <p:txBody>
          <a:bodyPr>
            <a:normAutofit fontScale="85000" lnSpcReduction="10000"/>
          </a:bodyPr>
          <a:lstStyle/>
          <a:p>
            <a:r>
              <a:rPr lang="en-US" altLang="ko-KR" dirty="0"/>
              <a:t>All students are expected to </a:t>
            </a:r>
            <a:r>
              <a:rPr lang="en-US" altLang="ko-KR" dirty="0">
                <a:solidFill>
                  <a:srgbClr val="FF0000"/>
                </a:solidFill>
              </a:rPr>
              <a:t>participate actively</a:t>
            </a:r>
            <a:r>
              <a:rPr lang="en-US" altLang="ko-KR" dirty="0"/>
              <a:t> in class regardless of their English ability. Students will be rewarded for effort in class and for taking part in class activities. </a:t>
            </a:r>
          </a:p>
          <a:p>
            <a:r>
              <a:rPr lang="en-US" altLang="ko-KR" dirty="0"/>
              <a:t>Students are expected to </a:t>
            </a:r>
            <a:r>
              <a:rPr lang="en-US" altLang="ko-KR" dirty="0">
                <a:solidFill>
                  <a:srgbClr val="FF0000"/>
                </a:solidFill>
              </a:rPr>
              <a:t>preview </a:t>
            </a:r>
            <a:r>
              <a:rPr lang="en-US" altLang="ko-KR" dirty="0"/>
              <a:t>and think about the material for next class so that they can be prepared with interesting ideas and be an </a:t>
            </a:r>
            <a:r>
              <a:rPr lang="en-US" altLang="ko-KR" dirty="0">
                <a:solidFill>
                  <a:srgbClr val="FF0000"/>
                </a:solidFill>
              </a:rPr>
              <a:t>active speaker and listener </a:t>
            </a:r>
            <a:r>
              <a:rPr lang="en-US" altLang="ko-KR" dirty="0"/>
              <a:t>during class time. </a:t>
            </a:r>
          </a:p>
          <a:p>
            <a:r>
              <a:rPr lang="en-US" altLang="ko-KR" dirty="0"/>
              <a:t>Students should show interest in the class and have a </a:t>
            </a:r>
            <a:r>
              <a:rPr lang="en-US" altLang="ko-KR" dirty="0">
                <a:solidFill>
                  <a:srgbClr val="FF0000"/>
                </a:solidFill>
              </a:rPr>
              <a:t>positive attitude</a:t>
            </a:r>
            <a:r>
              <a:rPr lang="en-US" altLang="ko-KR" dirty="0"/>
              <a:t> which will be part of the mark for attendance and participation. </a:t>
            </a:r>
            <a:endParaRPr lang="ko-KR" altLang="en-US" dirty="0"/>
          </a:p>
        </p:txBody>
      </p:sp>
    </p:spTree>
    <p:extLst>
      <p:ext uri="{BB962C8B-B14F-4D97-AF65-F5344CB8AC3E}">
        <p14:creationId xmlns:p14="http://schemas.microsoft.com/office/powerpoint/2010/main" val="738210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Introduction</a:t>
            </a:r>
            <a:endParaRPr lang="ko-KR" altLang="en-US" dirty="0"/>
          </a:p>
        </p:txBody>
      </p:sp>
      <p:sp>
        <p:nvSpPr>
          <p:cNvPr id="3" name="내용 개체 틀 2"/>
          <p:cNvSpPr>
            <a:spLocks noGrp="1"/>
          </p:cNvSpPr>
          <p:nvPr>
            <p:ph idx="1"/>
          </p:nvPr>
        </p:nvSpPr>
        <p:spPr>
          <a:xfrm>
            <a:off x="251520" y="1268760"/>
            <a:ext cx="8496944" cy="5589240"/>
          </a:xfrm>
        </p:spPr>
        <p:txBody>
          <a:bodyPr>
            <a:normAutofit fontScale="77500" lnSpcReduction="20000"/>
          </a:bodyPr>
          <a:lstStyle/>
          <a:p>
            <a:r>
              <a:rPr lang="en-US" altLang="ko-KR" dirty="0"/>
              <a:t>Introduce yourself by writing about yourself in English (1 page) and submit to </a:t>
            </a:r>
            <a:r>
              <a:rPr lang="en-US" altLang="ko-KR" dirty="0" err="1"/>
              <a:t>Cybercampus</a:t>
            </a:r>
            <a:r>
              <a:rPr lang="en-US" altLang="ko-KR" dirty="0"/>
              <a:t>- please write in complete sentences using English </a:t>
            </a:r>
          </a:p>
          <a:p>
            <a:pPr marL="514350" indent="-514350">
              <a:buAutoNum type="arabicParenR"/>
            </a:pPr>
            <a:r>
              <a:rPr lang="en-US" altLang="ko-KR" dirty="0"/>
              <a:t>Your name</a:t>
            </a:r>
          </a:p>
          <a:p>
            <a:pPr marL="514350" indent="-514350">
              <a:buAutoNum type="arabicParenR"/>
            </a:pPr>
            <a:r>
              <a:rPr lang="en-US" altLang="ko-KR" dirty="0"/>
              <a:t>Any interesting information about you – What makes you unique or interesting? What are you passionate about? What values or ideals do you think are important? What is on your bucket list? If you could change one thing about our world, what would it be?</a:t>
            </a:r>
          </a:p>
          <a:p>
            <a:pPr marL="0" indent="0">
              <a:buNone/>
            </a:pPr>
            <a:r>
              <a:rPr lang="en-US" altLang="ko-KR" dirty="0"/>
              <a:t>3) Which novel courses have you taken and how did you feel about them?</a:t>
            </a:r>
          </a:p>
          <a:p>
            <a:pPr marL="0" indent="0">
              <a:buNone/>
            </a:pPr>
            <a:r>
              <a:rPr lang="en-US" altLang="ko-KR" dirty="0"/>
              <a:t>4) How do you rate your English proficiency and what kind of learning style do you prefer? Lecture, class discussion, small-group, written assignments, debate </a:t>
            </a:r>
            <a:r>
              <a:rPr lang="en-US" altLang="ko-KR" dirty="0" err="1"/>
              <a:t>etc</a:t>
            </a:r>
            <a:r>
              <a:rPr lang="en-US" altLang="ko-KR" dirty="0"/>
              <a:t>?</a:t>
            </a:r>
          </a:p>
          <a:p>
            <a:pPr marL="0" indent="0">
              <a:buNone/>
            </a:pPr>
            <a:r>
              <a:rPr lang="en-US" altLang="ko-KR" dirty="0"/>
              <a:t>7) Do you have questions, concerns, or expectations for this class?</a:t>
            </a:r>
            <a:endParaRPr lang="ko-KR" altLang="en-US" dirty="0"/>
          </a:p>
        </p:txBody>
      </p:sp>
    </p:spTree>
    <p:extLst>
      <p:ext uri="{BB962C8B-B14F-4D97-AF65-F5344CB8AC3E}">
        <p14:creationId xmlns:p14="http://schemas.microsoft.com/office/powerpoint/2010/main" val="146427107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9606</TotalTime>
  <Words>1393</Words>
  <Application>Microsoft Office PowerPoint</Application>
  <PresentationFormat>화면 슬라이드 쇼(4:3)</PresentationFormat>
  <Paragraphs>117</Paragraphs>
  <Slides>23</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23</vt:i4>
      </vt:variant>
    </vt:vector>
  </HeadingPairs>
  <TitlesOfParts>
    <vt:vector size="26" baseType="lpstr">
      <vt:lpstr>맑은 고딕</vt:lpstr>
      <vt:lpstr>Arial</vt:lpstr>
      <vt:lpstr>Office 테마</vt:lpstr>
      <vt:lpstr>현대영국소설</vt:lpstr>
      <vt:lpstr>Contact Info</vt:lpstr>
      <vt:lpstr>Class Schedule</vt:lpstr>
      <vt:lpstr>Course Descriptions</vt:lpstr>
      <vt:lpstr>To the Lighthouse</vt:lpstr>
      <vt:lpstr>Wide Sargasso Sea</vt:lpstr>
      <vt:lpstr>Introduction to the novel as a genre &amp; understand what it means to be a ‘modern’ or ‘contemporary’ novel </vt:lpstr>
      <vt:lpstr>PowerPoint 프레젠테이션</vt:lpstr>
      <vt:lpstr>Objectives</vt:lpstr>
      <vt:lpstr>Class methodology</vt:lpstr>
      <vt:lpstr>Important </vt:lpstr>
      <vt:lpstr>Textbooks</vt:lpstr>
      <vt:lpstr>Evaluation  </vt:lpstr>
      <vt:lpstr>Attendance</vt:lpstr>
      <vt:lpstr>ASSIGNMENTS-WEEKLY PERSONAL READING RESPONSES </vt:lpstr>
      <vt:lpstr>Reading Responses</vt:lpstr>
      <vt:lpstr>Reading Tips</vt:lpstr>
      <vt:lpstr>Some issues to consider while reading </vt:lpstr>
      <vt:lpstr>PowerPoint 프레젠테이션</vt:lpstr>
      <vt:lpstr>PowerPoint 프레젠테이션</vt:lpstr>
      <vt:lpstr>Reading Responses Tips</vt:lpstr>
      <vt:lpstr>Participation counts!</vt:lpstr>
      <vt:lpstr>Introduction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British novel and Storytelling</dc:title>
  <dc:creator>Kelly</dc:creator>
  <cp:lastModifiedBy>GACHON</cp:lastModifiedBy>
  <cp:revision>60</cp:revision>
  <dcterms:created xsi:type="dcterms:W3CDTF">2018-08-28T09:24:41Z</dcterms:created>
  <dcterms:modified xsi:type="dcterms:W3CDTF">2026-03-03T04:03:17Z</dcterms:modified>
</cp:coreProperties>
</file>